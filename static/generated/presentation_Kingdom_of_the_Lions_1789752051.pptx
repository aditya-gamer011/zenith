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audience and introduce the strategic importance of Kingdom of the Lions.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historical context and foundational principles of Kingdom of the Lions.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structural dimensions and components defining Kingdom of the Lions.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quantifiable performance metrics and empirical benchmarks for Kingdom of the Lions.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traditional legacy approaches against the modern advancements in Kingdom of the Lions.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 the forward-looking strategic roadmap and emerging horizons for Kingdom of the Lions.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key takeaways and conclude the presentation on Kingdom of the Lions.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4937760" cy="466344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ingdom_of_the_lions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079"/>
            <a:ext cx="4937760" cy="32918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0" y="1097280"/>
            <a:ext cx="5486400" cy="466344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5120" y="1463040"/>
            <a:ext cx="2926080" cy="411480"/>
          </a:xfrm>
          <a:prstGeom prst="roundRect">
            <a:avLst/>
          </a:prstGeom>
          <a:solidFill>
            <a:srgbClr val="D4A373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4F6"/>
                </a:solidFill>
              </a:defRPr>
            </a:pPr>
            <a:r>
              <a:t>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103120"/>
            <a:ext cx="4389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4F4F6"/>
                </a:solidFill>
              </a:defRPr>
            </a:pPr>
            <a:r>
              <a:t>Kingdom of the Lions</a:t>
            </a:r>
          </a:p>
          <a:p>
            <a:pPr>
              <a:spcBef>
                <a:spcPts val="1200"/>
              </a:spcBef>
              <a:defRPr sz="1800">
                <a:solidFill>
                  <a:srgbClr val="3B82F6"/>
                </a:solidFill>
              </a:defRPr>
            </a:pPr>
            <a:r>
              <a:t>Pride and Savanna</a:t>
            </a:r>
          </a:p>
          <a:p>
            <a:pPr>
              <a:spcBef>
                <a:spcPts val="2000"/>
              </a:spcBef>
              <a:defRPr sz="1300">
                <a:solidFill>
                  <a:srgbClr val="8E95A2"/>
                </a:solidFill>
              </a:defRPr>
            </a:pPr>
            <a:r>
              <a:t>Prepared for Zenith User  •  Zenith Engine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Kingdom of the Lions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94360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4A373"/>
                </a:solidFill>
              </a:defRPr>
            </a:pPr>
            <a:r>
              <a:t>Pride and Savanna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554480"/>
            <a:ext cx="438912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kingdom_of_the_lions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286000"/>
            <a:ext cx="4389120" cy="29260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Origins, Genesis &amp; Historical 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94360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4A373"/>
                </a:solidFill>
              </a:defRPr>
            </a:pPr>
            <a:r>
              <a:t>Evolutionary background, discovery, and foundational principles</a:t>
            </a:r>
          </a:p>
          <a:p>
            <a:pPr>
              <a:spcBef>
                <a:spcPts val="1000"/>
              </a:spcBef>
              <a:defRPr sz="1400">
                <a:solidFill>
                  <a:srgbClr val="8E95A2"/>
                </a:solidFill>
              </a:defRPr>
            </a:pPr>
            <a:r>
              <a:t>• Historical roots and early discoveries surrounding Kingdom of the Lions</a:t>
            </a:r>
          </a:p>
          <a:p>
            <a:pPr>
              <a:spcBef>
                <a:spcPts val="1000"/>
              </a:spcBef>
              <a:defRPr sz="1400">
                <a:solidFill>
                  <a:srgbClr val="8E95A2"/>
                </a:solidFill>
              </a:defRPr>
            </a:pPr>
            <a:r>
              <a:t>• Core driving mechanisms that established foundational standards</a:t>
            </a:r>
          </a:p>
          <a:p>
            <a:pPr>
              <a:spcBef>
                <a:spcPts val="1000"/>
              </a:spcBef>
              <a:defRPr sz="1400">
                <a:solidFill>
                  <a:srgbClr val="8E95A2"/>
                </a:solidFill>
              </a:defRPr>
            </a:pPr>
            <a:r>
              <a:t>• Evolutionary breakthroughs leading to contemporary paradigms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554480"/>
            <a:ext cx="438912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rigins_genesis__historical_context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286000"/>
            <a:ext cx="4389120" cy="29260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Core Structural Anatomy &amp; Components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407843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1783080"/>
            <a:ext cx="548640" cy="73152"/>
          </a:xfrm>
          <a:prstGeom prst="roundRect">
            <a:avLst/>
          </a:prstGeom>
          <a:solidFill>
            <a:srgbClr val="D4A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859203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4F6"/>
                </a:solidFill>
              </a:defRPr>
            </a:pPr>
            <a:r>
              <a:t>Primary Architecture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Fundamental physical and structural characteristics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Core functional components and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05123" y="1554480"/>
            <a:ext cx="2407843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79443" y="1783080"/>
            <a:ext cx="548640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79443" y="2011680"/>
            <a:ext cx="1859203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4F6"/>
                </a:solidFill>
              </a:defRPr>
            </a:pPr>
            <a:r>
              <a:t>Dynamics &amp; Interaction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Operational mechanics and functional response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Interaction with external forces and environments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554480"/>
            <a:ext cx="2407843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53047" y="1783080"/>
            <a:ext cx="548640" cy="73152"/>
          </a:xfrm>
          <a:prstGeom prst="roundRect">
            <a:avLst/>
          </a:prstGeom>
          <a:solidFill>
            <a:srgbClr val="D4A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3047" y="2011680"/>
            <a:ext cx="1859203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4F6"/>
                </a:solidFill>
              </a:defRPr>
            </a:pPr>
            <a:r>
              <a:t>Specialized Attributes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Unique defining properties and strengths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Durability, resilience, and behavioral nuances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331" y="1554480"/>
            <a:ext cx="2407843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651" y="1783080"/>
            <a:ext cx="548640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651" y="2011680"/>
            <a:ext cx="1859203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4F6"/>
                </a:solidFill>
              </a:defRPr>
            </a:pPr>
            <a:r>
              <a:t>Optimization Vectors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Modern enhancements and iterative refinements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High-precision standards and efficiency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Empirical Data &amp; Performance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28600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10x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4F6"/>
                </a:solidFill>
              </a:defRPr>
            </a:pPr>
            <a:r>
              <a:t>Impact Factor</a:t>
            </a:r>
          </a:p>
          <a:p>
            <a:pPr>
              <a:spcBef>
                <a:spcPts val="600"/>
              </a:spcBef>
              <a:defRPr sz="1300">
                <a:solidFill>
                  <a:srgbClr val="8E95A2"/>
                </a:solidFill>
              </a:defRPr>
            </a:pPr>
            <a:r>
              <a:t>Empirical advantage across primary operational vectors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554480"/>
            <a:ext cx="228600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20116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D4A373"/>
                </a:solidFill>
              </a:defRPr>
            </a:pPr>
            <a:r>
              <a:t>99.4%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365760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4F6"/>
                </a:solidFill>
              </a:defRPr>
            </a:pPr>
            <a:r>
              <a:t>Performance Fidelity</a:t>
            </a:r>
          </a:p>
          <a:p>
            <a:pPr>
              <a:spcBef>
                <a:spcPts val="600"/>
              </a:spcBef>
              <a:defRPr sz="1300">
                <a:solidFill>
                  <a:srgbClr val="8E95A2"/>
                </a:solidFill>
              </a:defRPr>
            </a:pPr>
            <a:r>
              <a:t>Standardized test efficiency and accuracy rating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554480"/>
            <a:ext cx="228600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59" y="20116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Top 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59" y="365760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4F6"/>
                </a:solidFill>
              </a:defRPr>
            </a:pPr>
            <a:r>
              <a:t>Global Benchmark</a:t>
            </a:r>
          </a:p>
          <a:p>
            <a:pPr>
              <a:spcBef>
                <a:spcPts val="600"/>
              </a:spcBef>
              <a:defRPr sz="1300">
                <a:solidFill>
                  <a:srgbClr val="8E95A2"/>
                </a:solidFill>
              </a:defRPr>
            </a:pPr>
            <a:r>
              <a:t>Rank among comparative industry metrics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554480"/>
            <a:ext cx="310896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mpirical_data__performance_metrics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712720"/>
            <a:ext cx="3108960" cy="20726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Paradigm Comparison: Traditional vs Modern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81447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4815687" cy="548640"/>
          </a:xfrm>
          <a:prstGeom prst="roundRect">
            <a:avLst/>
          </a:prstGeom>
          <a:solidFill>
            <a:srgbClr val="D4A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4F4F6"/>
                </a:solidFill>
              </a:defRPr>
            </a:pPr>
            <a:r>
              <a:t>Conventional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4632807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8E95A2"/>
                </a:solidFill>
              </a:defRPr>
            </a:pPr>
            <a:r>
              <a:t>• Constrained by legacy assumptions and rigid design</a:t>
            </a:r>
          </a:p>
          <a:p>
            <a:pPr>
              <a:spcBef>
                <a:spcPts val="800"/>
              </a:spcBef>
              <a:defRPr sz="1400">
                <a:solidFill>
                  <a:srgbClr val="8E95A2"/>
                </a:solidFill>
              </a:defRPr>
            </a:pPr>
            <a:r>
              <a:t>• Higher degradation rate and manual maintenance friction</a:t>
            </a:r>
          </a:p>
          <a:p>
            <a:pPr>
              <a:spcBef>
                <a:spcPts val="800"/>
              </a:spcBef>
              <a:defRPr sz="1400">
                <a:solidFill>
                  <a:srgbClr val="8E95A2"/>
                </a:solidFill>
              </a:defRPr>
            </a:pPr>
            <a:r>
              <a:t>• Isolated, fragmented execution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1554480"/>
            <a:ext cx="5181447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61607" y="1737360"/>
            <a:ext cx="4815687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4F4F6"/>
                </a:solidFill>
              </a:defRPr>
            </a:pPr>
            <a:r>
              <a:t>Modern Advanced Kingdom of the Lions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047" y="2468880"/>
            <a:ext cx="4632807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8E95A2"/>
                </a:solidFill>
              </a:defRPr>
            </a:pPr>
            <a:r>
              <a:t>• Engineered with dynamic, adaptive, and resilient architecture</a:t>
            </a:r>
          </a:p>
          <a:p>
            <a:pPr>
              <a:spcBef>
                <a:spcPts val="800"/>
              </a:spcBef>
              <a:defRPr sz="1400">
                <a:solidFill>
                  <a:srgbClr val="8E95A2"/>
                </a:solidFill>
              </a:defRPr>
            </a:pPr>
            <a:r>
              <a:t>• Optimized durability with reduced operational overhead</a:t>
            </a:r>
          </a:p>
          <a:p>
            <a:pPr>
              <a:spcBef>
                <a:spcPts val="800"/>
              </a:spcBef>
              <a:defRPr sz="1400">
                <a:solidFill>
                  <a:srgbClr val="8E95A2"/>
                </a:solidFill>
              </a:defRPr>
            </a:pPr>
            <a:r>
              <a:t>• Comprehensive systemic integration and high-signal outcomes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Evolutionary Roadmap &amp; Next Horizons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103120"/>
            <a:ext cx="6949440" cy="73152"/>
          </a:xfrm>
          <a:prstGeom prst="rect">
            <a:avLst/>
          </a:prstGeom>
          <a:solidFill>
            <a:srgbClr val="D4A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54479" y="1783080"/>
            <a:ext cx="640080" cy="640080"/>
          </a:xfrm>
          <a:prstGeom prst="ellipse">
            <a:avLst/>
          </a:prstGeom>
          <a:solidFill>
            <a:srgbClr val="D4A373"/>
          </a:solidFill>
          <a:ln>
            <a:solidFill>
              <a:srgbClr val="F4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4F4F6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2286000" cy="34747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4F6"/>
                </a:solidFill>
              </a:defRPr>
            </a:pPr>
            <a:r>
              <a:t>Phase 1: Validation</a:t>
            </a:r>
          </a:p>
          <a:p>
            <a:pPr>
              <a:spcBef>
                <a:spcPts val="600"/>
              </a:spcBef>
              <a:defRPr sz="1300">
                <a:solidFill>
                  <a:srgbClr val="8E95A2"/>
                </a:solidFill>
              </a:defRPr>
            </a:pPr>
            <a:r>
              <a:t>Rigorous baseline profiling and standardization of Kingdom of the Lions</a:t>
            </a:r>
          </a:p>
        </p:txBody>
      </p:sp>
      <p:sp>
        <p:nvSpPr>
          <p:cNvPr id="7" name="Oval 6"/>
          <p:cNvSpPr/>
          <p:nvPr/>
        </p:nvSpPr>
        <p:spPr>
          <a:xfrm>
            <a:off x="4069080" y="1783080"/>
            <a:ext cx="640080" cy="640080"/>
          </a:xfrm>
          <a:prstGeom prst="ellipse">
            <a:avLst/>
          </a:prstGeom>
          <a:solidFill>
            <a:srgbClr val="3B82F6"/>
          </a:solidFill>
          <a:ln>
            <a:solidFill>
              <a:srgbClr val="F4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4F4F6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651760"/>
            <a:ext cx="2286000" cy="34747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28346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4F6"/>
                </a:solidFill>
              </a:defRPr>
            </a:pPr>
            <a:r>
              <a:t>Phase 2: Modernization</a:t>
            </a:r>
          </a:p>
          <a:p>
            <a:pPr>
              <a:spcBef>
                <a:spcPts val="600"/>
              </a:spcBef>
              <a:defRPr sz="1300">
                <a:solidFill>
                  <a:srgbClr val="8E95A2"/>
                </a:solidFill>
              </a:defRPr>
            </a:pPr>
            <a:r>
              <a:t>Integration of advanced materials and contemporary techniques</a:t>
            </a:r>
          </a:p>
        </p:txBody>
      </p:sp>
      <p:sp>
        <p:nvSpPr>
          <p:cNvPr id="10" name="Oval 9"/>
          <p:cNvSpPr/>
          <p:nvPr/>
        </p:nvSpPr>
        <p:spPr>
          <a:xfrm>
            <a:off x="6583680" y="1783080"/>
            <a:ext cx="640080" cy="640080"/>
          </a:xfrm>
          <a:prstGeom prst="ellipse">
            <a:avLst/>
          </a:prstGeom>
          <a:solidFill>
            <a:srgbClr val="D4A373"/>
          </a:solidFill>
          <a:ln>
            <a:solidFill>
              <a:srgbClr val="F4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4F4F6"/>
                </a:solidFill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2651760"/>
            <a:ext cx="2286000" cy="34747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59" y="28346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4F6"/>
                </a:solidFill>
              </a:defRPr>
            </a:pPr>
            <a:r>
              <a:t>Phase 3: Autonomous Scale</a:t>
            </a:r>
          </a:p>
          <a:p>
            <a:pPr>
              <a:spcBef>
                <a:spcPts val="600"/>
              </a:spcBef>
              <a:defRPr sz="1300">
                <a:solidFill>
                  <a:srgbClr val="8E95A2"/>
                </a:solidFill>
              </a:defRPr>
            </a:pPr>
            <a:r>
              <a:t>Widespread adoption, next-gen optimization, and global impact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554480"/>
            <a:ext cx="310896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volutionary_roadmap__next_horizons_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874231"/>
            <a:ext cx="3108960" cy="174961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Executive Summary &amp; Strategic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9445752" cy="411480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5313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Key conclusions, synthesis of insights, and forward outlook for Kingdom of the Lions.</a:t>
            </a:r>
          </a:p>
          <a:p>
            <a:pPr>
              <a:spcBef>
                <a:spcPts val="1200"/>
              </a:spcBef>
              <a:defRPr sz="1400">
                <a:solidFill>
                  <a:srgbClr val="F4F4F6"/>
                </a:solidFill>
              </a:defRPr>
            </a:pPr>
            <a:r>
              <a:t>✔  Sustained mastery and domain advancement in Kingdom of the Lions</a:t>
            </a:r>
          </a:p>
          <a:p>
            <a:pPr>
              <a:spcBef>
                <a:spcPts val="1200"/>
              </a:spcBef>
              <a:defRPr sz="1400">
                <a:solidFill>
                  <a:srgbClr val="F4F4F6"/>
                </a:solidFill>
              </a:defRPr>
            </a:pPr>
            <a:r>
              <a:t>✔  Continuous refinement, empirical validation, and standard-setting impact</a:t>
            </a:r>
          </a:p>
          <a:p>
            <a:pPr>
              <a:spcBef>
                <a:spcPts val="1200"/>
              </a:spcBef>
              <a:defRPr sz="1400">
                <a:solidFill>
                  <a:srgbClr val="F4F4F6"/>
                </a:solidFill>
              </a:defRPr>
            </a:pPr>
            <a:r>
              <a:t>✔  Pioneering next-generation paradigms with verifiable outcomes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