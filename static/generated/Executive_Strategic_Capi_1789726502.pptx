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Executive Strategic Capital Audit: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Strategic Context &amp; Opportunity: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Core Architecture &amp; Capabilities: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Performance &amp; Impact Metrics: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Modern vs Legacy Paradigm: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Execution Roadmap &amp; Next Horizons: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9260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84C7"/>
                </a:solidFill>
                <a:latin typeface="Inter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72A"/>
                </a:solidFill>
                <a:latin typeface="Inter"/>
              </a:defRPr>
            </a:pPr>
            <a:r>
              <a:t>Executive Strategic Capital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Inter"/>
              </a:defRPr>
            </a:pPr>
            <a:r>
              <a:t>Pure Structural Clarity and Fiduciary Rigor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2377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Inter"/>
              </a:defRPr>
            </a:pPr>
            <a:r>
              <a:t>Explore Architecture →</a:t>
            </a:r>
          </a:p>
        </p:txBody>
      </p:sp>
      <p:pic>
        <p:nvPicPr>
          <p:cNvPr id="7" name="Picture 6" descr="orb_swis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3840480" cy="38404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CONTEXT</a:t>
            </a:r>
          </a:p>
          <a:p>
            <a:pPr>
              <a:defRPr sz="3200" b="1">
                <a:solidFill>
                  <a:srgbClr val="0F172A"/>
                </a:solidFill>
                <a:latin typeface="Inter"/>
              </a:defRPr>
            </a:pPr>
            <a:r>
              <a:t>Strategic Context &amp; Opportunity</a:t>
            </a:r>
          </a:p>
          <a:p>
            <a:pPr>
              <a:defRPr sz="1400">
                <a:solidFill>
                  <a:srgbClr val="64748B"/>
                </a:solidFill>
                <a:latin typeface="Inter"/>
              </a:defRPr>
            </a:pPr>
            <a:r>
              <a:t>Market dynamics and foundational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4754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rb_swis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2743200" cy="2743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CAPABILITIES</a:t>
            </a:r>
          </a:p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Core Architecture &amp;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0F172A"/>
                </a:solidFill>
                <a:latin typeface="Inter"/>
              </a:defRPr>
            </a:pPr>
            <a:r>
              <a:t>Precision Execution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t>High-performance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0F172A"/>
                </a:solidFill>
                <a:latin typeface="Inter"/>
              </a:defRPr>
            </a:pPr>
            <a:r>
              <a:t>Scalable Integration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t>Zero-friction onboarding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0F172A"/>
                </a:solidFill>
                <a:latin typeface="Inter"/>
              </a:defRPr>
            </a:pPr>
            <a:r>
              <a:t>Continuous Optimization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t>Real-time telemetry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Performance &amp; Impact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RELIABILITY SLA</a:t>
            </a:r>
          </a:p>
          <a:p>
            <a:pPr>
              <a:defRPr sz="5400" b="1">
                <a:solidFill>
                  <a:srgbClr val="0F172A"/>
                </a:solidFill>
                <a:latin typeface="Inter"/>
              </a:defRPr>
            </a:pPr>
            <a:r>
              <a:t>99.99%</a:t>
            </a:r>
          </a:p>
          <a:p>
            <a:pPr>
              <a:defRPr sz="1400">
                <a:solidFill>
                  <a:srgbClr val="64748B"/>
                </a:solidFill>
                <a:latin typeface="Inter"/>
              </a:defRPr>
            </a:pPr>
            <a:r>
              <a:t>Mission-critical uptime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284C7"/>
                </a:solidFill>
                <a:latin typeface="Inter"/>
              </a:defRPr>
            </a:pPr>
            <a:r>
              <a:t>3.5x</a:t>
            </a:r>
          </a:p>
          <a:p>
            <a:pPr>
              <a:defRPr sz="1300" b="1">
                <a:solidFill>
                  <a:srgbClr val="0F172A"/>
                </a:solidFill>
                <a:latin typeface="Inter"/>
              </a:defRPr>
            </a:pPr>
            <a:r>
              <a:t>Throughput Velocity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Accelerated cycle times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60520"/>
            <a:ext cx="51206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284C7"/>
                </a:solidFill>
                <a:latin typeface="Inter"/>
              </a:defRPr>
            </a:pPr>
            <a:r>
              <a:t>-45%</a:t>
            </a:r>
          </a:p>
          <a:p>
            <a:pPr>
              <a:defRPr sz="1300" b="1">
                <a:solidFill>
                  <a:srgbClr val="0F172A"/>
                </a:solidFill>
                <a:latin typeface="Inter"/>
              </a:defRPr>
            </a:pPr>
            <a:r>
              <a:t>Operational Overhead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Cost reduction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Modern vs Legacy Paradigm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LEGACY ARCHITECTURE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✖  Passive chat interfaces with zero runtime execution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✖  Fragmented context lost between sessions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✖  Unverified hallucinated code generation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✖  Proprietary vendor cloud lock-in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ZENITH SOVEREIGN LAYER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 Proactive executive command across 8 specialized departments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 Unified persistent memory fabric &amp; timeline tracking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 Atomic patch transactions with pre-flight verification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 Complete local sovereignty &amp; private sandbox execution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Execution Roadmap &amp; Next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9875520" cy="3657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218688"/>
            <a:ext cx="182880" cy="18288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2194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Q1 2026</a:t>
            </a:r>
          </a:p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Foundation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Core agentic kernel &amp; multi-modal memory.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3218688"/>
            <a:ext cx="182880" cy="18288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3657600"/>
            <a:ext cx="2194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Q2 2026</a:t>
            </a:r>
          </a:p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Expansion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Autonomous tool generation &amp; SWE sandbox.</a:t>
            </a:r>
          </a:p>
        </p:txBody>
      </p:sp>
      <p:sp>
        <p:nvSpPr>
          <p:cNvPr id="9" name="Oval 8"/>
          <p:cNvSpPr/>
          <p:nvPr/>
        </p:nvSpPr>
        <p:spPr>
          <a:xfrm>
            <a:off x="7223760" y="3218688"/>
            <a:ext cx="182880" cy="18288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2194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Q3 2026</a:t>
            </a:r>
          </a:p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Scale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Hardware acceleration &amp; edge deployment.</a:t>
            </a:r>
          </a:p>
        </p:txBody>
      </p:sp>
      <p:sp>
        <p:nvSpPr>
          <p:cNvPr id="11" name="Oval 10"/>
          <p:cNvSpPr/>
          <p:nvPr/>
        </p:nvSpPr>
        <p:spPr>
          <a:xfrm>
            <a:off x="9784079" y="3218688"/>
            <a:ext cx="182880" cy="18288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39" y="3657600"/>
            <a:ext cx="2194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Q4 2026</a:t>
            </a:r>
          </a:p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Sovereignty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Full offline sovereignty &amp; peer mesh network.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