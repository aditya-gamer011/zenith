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Cloud Architecture: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Strategic Context &amp; Opportunity: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Core Architecture &amp; Capabilities: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Performance &amp; Impact Metrics: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Modern vs Legacy Paradigm: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Execution Roadmap &amp; Next Horizons: Deliver with concise, confident executive presence.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493776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ern_cloud_architectur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39111"/>
            <a:ext cx="4937760" cy="277977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0" y="1097280"/>
            <a:ext cx="5486400" cy="466344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2926080" cy="411480"/>
          </a:xfrm>
          <a:prstGeom prst="roundRect">
            <a:avLst/>
          </a:prstGeom>
          <a:solidFill>
            <a:srgbClr val="D4A373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F4F6"/>
                </a:solidFill>
              </a:defRPr>
            </a:pPr>
            <a:r>
              <a:t>EXECUTIVE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103120"/>
            <a:ext cx="43891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F4F6"/>
                </a:solidFill>
              </a:defRPr>
            </a:pPr>
            <a:r>
              <a:t>Modern Cloud Architecture</a:t>
            </a:r>
          </a:p>
          <a:p>
            <a:pPr>
              <a:spcBef>
                <a:spcPts val="1200"/>
              </a:spcBef>
              <a:defRPr sz="1800">
                <a:solidFill>
                  <a:srgbClr val="3B82F6"/>
                </a:solidFill>
              </a:defRPr>
            </a:pPr>
            <a:r>
              <a:t>Zero-Trust Scalability</a:t>
            </a:r>
          </a:p>
          <a:p>
            <a:pPr>
              <a:spcBef>
                <a:spcPts val="2000"/>
              </a:spcBef>
              <a:defRPr sz="1300">
                <a:solidFill>
                  <a:srgbClr val="8E95A2"/>
                </a:solidFill>
              </a:defRPr>
            </a:pPr>
            <a:r>
              <a:t>Prepared for Zenith Studio  •  Zenith Engine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Modern Cloud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0175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468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Overview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Key presentation takeaway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554480"/>
            <a:ext cx="429768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rn_cloud_architectur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352294"/>
            <a:ext cx="4297680" cy="27934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Strategic Context &amp; Opportunity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94360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373"/>
                </a:solidFill>
              </a:defRPr>
            </a:pPr>
            <a:r>
              <a:t>Market dynamics and foundational objectives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Addressing critical industry shifts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Capitalizing on high-growth segments</a:t>
            </a:r>
          </a:p>
          <a:p>
            <a:pPr>
              <a:spcBef>
                <a:spcPts val="1000"/>
              </a:spcBef>
              <a:defRPr sz="1400">
                <a:solidFill>
                  <a:srgbClr val="8E95A2"/>
                </a:solidFill>
              </a:defRPr>
            </a:pPr>
            <a:r>
              <a:t>• Eliminating systemic friction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554480"/>
            <a:ext cx="438912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rategic_context__opportunity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513584"/>
            <a:ext cx="4389120" cy="24709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Core Architecture &amp;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Precision Execution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High-performance pipeline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Sub-second response SLAs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9658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3978" y="1783080"/>
            <a:ext cx="54864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3978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Scalable Integration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Zero-friction onboarding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Enterprise security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7796" y="1554480"/>
            <a:ext cx="3332378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02116" y="1783080"/>
            <a:ext cx="548640" cy="73152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02116" y="2011680"/>
            <a:ext cx="27837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Continuous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Real-time telemetry</a:t>
            </a:r>
          </a:p>
          <a:p>
            <a:pPr>
              <a:spcBef>
                <a:spcPts val="800"/>
              </a:spcBef>
              <a:defRPr sz="1300">
                <a:solidFill>
                  <a:srgbClr val="8E95A2"/>
                </a:solidFill>
              </a:defRPr>
            </a:pPr>
            <a:r>
              <a:t>• Automated feedback loops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Performance &amp; Impact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99.99%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Reliability SLA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Mission-critical uptime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747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8910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373"/>
                </a:solidFill>
              </a:defRPr>
            </a:pPr>
            <a:r>
              <a:t>3.5x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8910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Throughput Velocity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Accelerated cycle times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0342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85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B82F6"/>
                </a:solidFill>
              </a:defRPr>
            </a:pPr>
            <a:r>
              <a:t>-45%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85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Operational Overhead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Cost reduction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9370" y="1554480"/>
            <a:ext cx="165735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0809" y="2011680"/>
            <a:ext cx="147447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373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809" y="3657600"/>
            <a:ext cx="147447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F4F6"/>
                </a:solidFill>
              </a:defRPr>
            </a:pPr>
            <a:r>
              <a:t>Data Integrity</a:t>
            </a:r>
          </a:p>
          <a:p>
            <a:pPr>
              <a:spcBef>
                <a:spcPts val="600"/>
              </a:spcBef>
              <a:defRPr sz="1100">
                <a:solidFill>
                  <a:srgbClr val="8E95A2"/>
                </a:solidFill>
              </a:defRPr>
            </a:pPr>
            <a:r>
              <a:t>ACID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erformance__impact_metrics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2720"/>
            <a:ext cx="3108960" cy="20726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Modern vs Legacy Paradigm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D4A3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4815687" cy="548640"/>
          </a:xfrm>
          <a:prstGeom prst="round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Legacy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Siloed, manual processes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Static, rigid report templates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Fragmented data silos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554480"/>
            <a:ext cx="5181447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61607" y="1737360"/>
            <a:ext cx="4815687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Zenith Modern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2468880"/>
            <a:ext cx="4632807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Autonomous, integrated agent workflow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Kinetic, interactive 3D presentations</a:t>
            </a:r>
          </a:p>
          <a:p>
            <a:pPr>
              <a:spcBef>
                <a:spcPts val="800"/>
              </a:spcBef>
              <a:defRPr sz="1400">
                <a:solidFill>
                  <a:srgbClr val="8E95A2"/>
                </a:solidFill>
              </a:defRPr>
            </a:pPr>
            <a:r>
              <a:t>• Unified graph memory architecture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F4F6"/>
                </a:solidFill>
              </a:defRPr>
            </a:pPr>
            <a:r>
              <a:t>Execution Roadmap &amp; Next Horizons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103120"/>
            <a:ext cx="6949440" cy="73152"/>
          </a:xfrm>
          <a:prstGeom prst="rect">
            <a:avLst/>
          </a:prstGeom>
          <a:solidFill>
            <a:srgbClr val="D4A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54479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1: Foundation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Core engine rollout and baseline validation</a:t>
            </a:r>
          </a:p>
        </p:txBody>
      </p:sp>
      <p:sp>
        <p:nvSpPr>
          <p:cNvPr id="7" name="Oval 6"/>
          <p:cNvSpPr/>
          <p:nvPr/>
        </p:nvSpPr>
        <p:spPr>
          <a:xfrm>
            <a:off x="4069080" y="1783080"/>
            <a:ext cx="640080" cy="640080"/>
          </a:xfrm>
          <a:prstGeom prst="ellipse">
            <a:avLst/>
          </a:prstGeom>
          <a:solidFill>
            <a:srgbClr val="3B82F6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2: Scale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Ecosystem integration and multi-team onboarding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D4A373"/>
          </a:solidFill>
          <a:ln>
            <a:solidFill>
              <a:srgbClr val="F4F4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4F4F6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651760"/>
            <a:ext cx="2286000" cy="34747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2834640"/>
            <a:ext cx="2103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4F6"/>
                </a:solidFill>
              </a:defRPr>
            </a:pPr>
            <a:r>
              <a:t>Phase 3: Autonomy</a:t>
            </a:r>
          </a:p>
          <a:p>
            <a:pPr>
              <a:spcBef>
                <a:spcPts val="600"/>
              </a:spcBef>
              <a:defRPr sz="1300">
                <a:solidFill>
                  <a:srgbClr val="8E95A2"/>
                </a:solidFill>
              </a:defRPr>
            </a:pPr>
            <a:r>
              <a:t>Autonomous optimization and real-time synthesis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554480"/>
            <a:ext cx="3108960" cy="4389120"/>
          </a:xfrm>
          <a:prstGeom prst="roundRect">
            <a:avLst/>
          </a:prstGeom>
          <a:solidFill>
            <a:srgbClr val="181B20"/>
          </a:solidFill>
          <a:ln>
            <a:solidFill>
              <a:srgbClr val="2A2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execution_roadmap__next_horizons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715598"/>
            <a:ext cx="3108960" cy="20668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