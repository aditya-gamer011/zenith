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Autonomous Agent Architecture: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Strategic Context &amp; Opportunity: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Core Architecture &amp; Capabilities: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Performance &amp; Impact Metrics: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Modern vs Legacy Paradigm: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Execution Roadmap &amp; Next Horizons: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nomous_agent_architectur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1"/>
            <a:ext cx="4937760" cy="277977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97280"/>
            <a:ext cx="5486400" cy="466344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926080" cy="411480"/>
          </a:xfrm>
          <a:prstGeom prst="roundRect">
            <a:avLst/>
          </a:prstGeom>
          <a:solidFill>
            <a:srgbClr val="DDA15E"/>
          </a:solidFill>
          <a:ln>
            <a:solidFill>
              <a:srgbClr val="DD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DFBF7"/>
                </a:solidFill>
              </a:defRPr>
            </a:pPr>
            <a: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DFBF7"/>
                </a:solidFill>
              </a:defRPr>
            </a:pPr>
            <a:r>
              <a:t>Autonomous Agent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606C38"/>
                </a:solidFill>
              </a:defRPr>
            </a:pPr>
            <a:r>
              <a:t>Foundations of Self-Directing Intelligence</a:t>
            </a:r>
          </a:p>
          <a:p>
            <a:pPr>
              <a:spcBef>
                <a:spcPts val="2000"/>
              </a:spcBef>
              <a:defRPr sz="1300">
                <a:solidFill>
                  <a:srgbClr val="C2B29F"/>
                </a:solidFill>
              </a:defRPr>
            </a:pPr>
            <a:r>
              <a:t>Prepared for Zenith Studio  •  Zenith Engine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Updated Agent Vision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01752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D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Overview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Key presentation takeaway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554480"/>
            <a:ext cx="429768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pdated_agent_vision_2026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571157"/>
            <a:ext cx="4297680" cy="23557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Strategic Context &amp;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DA15E"/>
                </a:solidFill>
              </a:defRPr>
            </a:pPr>
            <a:r>
              <a:t>Market dynamics and foundational objectives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Addressing critical industry shifts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Capitalizing on high-growth segments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Eliminating systemic friction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ategic_context__opportunity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513584"/>
            <a:ext cx="4389120" cy="247091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Core Architecture &amp;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32378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D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Precision Execution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High-performance pipeline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Sub-second response SLAs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554480"/>
            <a:ext cx="3332378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03978" y="1783080"/>
            <a:ext cx="548640" cy="73152"/>
          </a:xfrm>
          <a:prstGeom prst="roundRect">
            <a:avLst/>
          </a:prstGeom>
          <a:solidFill>
            <a:srgbClr val="60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3978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Scalable Integration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Zero-friction onboarding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Enterprise security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796" y="1554480"/>
            <a:ext cx="3332378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02116" y="1783080"/>
            <a:ext cx="548640" cy="73152"/>
          </a:xfrm>
          <a:prstGeom prst="roundRect">
            <a:avLst/>
          </a:prstGeom>
          <a:solidFill>
            <a:srgbClr val="DD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02116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Continuous Optimization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Real-time telemetry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Automated feedback loops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Performance &amp; Impact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65735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6C38"/>
                </a:solidFill>
              </a:defRPr>
            </a:pPr>
            <a:r>
              <a:t>99.99%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DFBF7"/>
                </a:solidFill>
              </a:defRPr>
            </a:pPr>
            <a:r>
              <a:t>Reliability SLA</a:t>
            </a:r>
          </a:p>
          <a:p>
            <a:pPr>
              <a:spcBef>
                <a:spcPts val="600"/>
              </a:spcBef>
              <a:defRPr sz="1100">
                <a:solidFill>
                  <a:srgbClr val="C2B29F"/>
                </a:solidFill>
              </a:defRPr>
            </a:pPr>
            <a:r>
              <a:t>Mission-critical uptime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7470" y="1554480"/>
            <a:ext cx="165735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8910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DA15E"/>
                </a:solidFill>
              </a:defRPr>
            </a:pPr>
            <a:r>
              <a:t>3.5x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8910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DFBF7"/>
                </a:solidFill>
              </a:defRPr>
            </a:pPr>
            <a:r>
              <a:t>Throughput Velocity</a:t>
            </a:r>
          </a:p>
          <a:p>
            <a:pPr>
              <a:spcBef>
                <a:spcPts val="600"/>
              </a:spcBef>
              <a:defRPr sz="1100">
                <a:solidFill>
                  <a:srgbClr val="C2B29F"/>
                </a:solidFill>
              </a:defRPr>
            </a:pPr>
            <a:r>
              <a:t>Accelerated cycle times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3420" y="1554480"/>
            <a:ext cx="165735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4859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6C38"/>
                </a:solidFill>
              </a:defRPr>
            </a:pPr>
            <a:r>
              <a:t>-45%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4859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DFBF7"/>
                </a:solidFill>
              </a:defRPr>
            </a:pPr>
            <a:r>
              <a:t>Operational Overhead</a:t>
            </a:r>
          </a:p>
          <a:p>
            <a:pPr>
              <a:spcBef>
                <a:spcPts val="600"/>
              </a:spcBef>
              <a:defRPr sz="1100">
                <a:solidFill>
                  <a:srgbClr val="C2B29F"/>
                </a:solidFill>
              </a:defRPr>
            </a:pPr>
            <a:r>
              <a:t>Cost reduction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9370" y="1554480"/>
            <a:ext cx="165735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809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DA15E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809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DFBF7"/>
                </a:solidFill>
              </a:defRPr>
            </a:pPr>
            <a:r>
              <a:t>Data Integrity</a:t>
            </a:r>
          </a:p>
          <a:p>
            <a:pPr>
              <a:spcBef>
                <a:spcPts val="600"/>
              </a:spcBef>
              <a:defRPr sz="1100">
                <a:solidFill>
                  <a:srgbClr val="C2B29F"/>
                </a:solidFill>
              </a:defRPr>
            </a:pPr>
            <a:r>
              <a:t>ACID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rformance__impact_metrics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2720"/>
            <a:ext cx="3108960" cy="20726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Modern vs Legacy Paradigm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81447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DD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815687" cy="548640"/>
          </a:xfrm>
          <a:prstGeom prst="roundRect">
            <a:avLst/>
          </a:prstGeom>
          <a:solidFill>
            <a:srgbClr val="DD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DFBF7"/>
                </a:solidFill>
              </a:defRPr>
            </a:pPr>
            <a:r>
              <a:t>Legacy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Siloed, manual processes</a:t>
            </a:r>
          </a:p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Static, rigid report templates</a:t>
            </a:r>
          </a:p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Fragmented data silos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606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1607" y="1737360"/>
            <a:ext cx="4815687" cy="548640"/>
          </a:xfrm>
          <a:prstGeom prst="roundRect">
            <a:avLst/>
          </a:prstGeom>
          <a:solidFill>
            <a:srgbClr val="60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DFBF7"/>
                </a:solidFill>
              </a:defRPr>
            </a:pPr>
            <a:r>
              <a:t>Zenith Modern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Autonomous, integrated agent workflow</a:t>
            </a:r>
          </a:p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Kinetic, interactive 3D presentations</a:t>
            </a:r>
          </a:p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Unified graph memory architecture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Execution Roadmap &amp; Next Horizons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6949440" cy="73152"/>
          </a:xfrm>
          <a:prstGeom prst="rect">
            <a:avLst/>
          </a:prstGeom>
          <a:solidFill>
            <a:srgbClr val="DD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79" y="1783080"/>
            <a:ext cx="640080" cy="640080"/>
          </a:xfrm>
          <a:prstGeom prst="ellipse">
            <a:avLst/>
          </a:prstGeom>
          <a:solidFill>
            <a:srgbClr val="DDA15E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DFBF7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2286000" cy="34747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Phase 1: Foundation</a:t>
            </a:r>
          </a:p>
          <a:p>
            <a:pPr>
              <a:spcBef>
                <a:spcPts val="600"/>
              </a:spcBef>
              <a:defRPr sz="1300">
                <a:solidFill>
                  <a:srgbClr val="C2B29F"/>
                </a:solidFill>
              </a:defRPr>
            </a:pPr>
            <a:r>
              <a:t>Core engine rollout and baseline validation</a:t>
            </a:r>
          </a:p>
        </p:txBody>
      </p:sp>
      <p:sp>
        <p:nvSpPr>
          <p:cNvPr id="7" name="Oval 6"/>
          <p:cNvSpPr/>
          <p:nvPr/>
        </p:nvSpPr>
        <p:spPr>
          <a:xfrm>
            <a:off x="4069080" y="1783080"/>
            <a:ext cx="640080" cy="640080"/>
          </a:xfrm>
          <a:prstGeom prst="ellipse">
            <a:avLst/>
          </a:prstGeom>
          <a:solidFill>
            <a:srgbClr val="606C38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DFBF7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651760"/>
            <a:ext cx="2286000" cy="34747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Phase 2: Scale</a:t>
            </a:r>
          </a:p>
          <a:p>
            <a:pPr>
              <a:spcBef>
                <a:spcPts val="600"/>
              </a:spcBef>
              <a:defRPr sz="1300">
                <a:solidFill>
                  <a:srgbClr val="C2B29F"/>
                </a:solidFill>
              </a:defRPr>
            </a:pPr>
            <a:r>
              <a:t>Ecosystem integration and multi-team onboarding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DDA15E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DFBF7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651760"/>
            <a:ext cx="2286000" cy="34747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Phase 3: Autonomy</a:t>
            </a:r>
          </a:p>
          <a:p>
            <a:pPr>
              <a:spcBef>
                <a:spcPts val="600"/>
              </a:spcBef>
              <a:defRPr sz="1300">
                <a:solidFill>
                  <a:srgbClr val="C2B29F"/>
                </a:solidFill>
              </a:defRPr>
            </a:pPr>
            <a:r>
              <a:t>Autonomous optimization and real-time synthesis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ution_roadmap__next_horizons_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5598"/>
            <a:ext cx="3108960" cy="20668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