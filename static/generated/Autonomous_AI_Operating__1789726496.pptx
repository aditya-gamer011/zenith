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Autonomous AI Operating Systems: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Strategic Context &amp; Opportunity: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Core Architecture &amp; Capabilities: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Performance &amp; Impact Metrics: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Modern vs Legacy Paradigm: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Execution Roadmap &amp; Next Horizons: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97280"/>
            <a:ext cx="2926080" cy="384048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F3FF"/>
                </a:solidFill>
                <a:latin typeface="Inter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yne"/>
              </a:defRPr>
            </a:pPr>
            <a:r>
              <a:t>Autonomous AI Operating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8A95A5"/>
                </a:solidFill>
                <a:latin typeface="Inter"/>
              </a:defRPr>
            </a:pPr>
            <a:r>
              <a:t>Foundations of Self-Directing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486400"/>
            <a:ext cx="2377440" cy="502920"/>
          </a:xfrm>
          <a:prstGeom prst="roundRect">
            <a:avLst/>
          </a:prstGeom>
          <a:solidFill>
            <a:srgbClr val="12141C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yne"/>
              </a:defRPr>
            </a:pPr>
            <a:r>
              <a:t>Explore Architecture →</a:t>
            </a:r>
          </a:p>
        </p:txBody>
      </p:sp>
      <p:pic>
        <p:nvPicPr>
          <p:cNvPr id="7" name="Picture 6" descr="orb_cyberpunk_ne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3840480" cy="3840480"/>
          </a:xfrm>
          <a:prstGeom prst="rect">
            <a:avLst/>
          </a:prstGeom>
        </p:spPr>
      </p:pic>
    </p:spTree>
  </p:cSld>
  <p:clrMapOvr>
    <a:masterClrMapping/>
  </p:clrMapOvr>
  <p:transition>
    <p:zoom dir="in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3FF"/>
                </a:solidFill>
              </a:defRPr>
            </a:pPr>
            <a:r>
              <a:t>CONTEXT</a:t>
            </a:r>
          </a:p>
          <a:p>
            <a:pPr>
              <a:defRPr sz="3200" b="1">
                <a:solidFill>
                  <a:srgbClr val="FFFFFF"/>
                </a:solidFill>
                <a:latin typeface="Syne"/>
              </a:defRPr>
            </a:pPr>
            <a:r>
              <a:t>Strategic Context &amp; Opportunity</a:t>
            </a:r>
          </a:p>
          <a:p>
            <a:pPr>
              <a:defRPr sz="1400">
                <a:solidFill>
                  <a:srgbClr val="8A95A5"/>
                </a:solidFill>
                <a:latin typeface="Inter"/>
              </a:defRPr>
            </a:pPr>
            <a:r>
              <a:t>Market dynamics and foundational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371600"/>
            <a:ext cx="4754880" cy="438912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rb_cyberpunk_ne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03120"/>
            <a:ext cx="2743200" cy="2743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3FF"/>
                </a:solidFill>
              </a:defRPr>
            </a:pPr>
            <a:r>
              <a:t>CAPABILITIES</a:t>
            </a:r>
          </a:p>
          <a:p>
            <a:pPr>
              <a:defRPr sz="2800" b="1">
                <a:solidFill>
                  <a:srgbClr val="FFFFFF"/>
                </a:solidFill>
                <a:latin typeface="Syne"/>
              </a:defRPr>
            </a:pPr>
            <a:r>
              <a:t>Core Architecture &amp;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201168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FFFFF"/>
                </a:solidFill>
                <a:latin typeface="Syne"/>
              </a:defRPr>
            </a:pPr>
            <a:r>
              <a:t>Precision Execution</a:t>
            </a:r>
          </a:p>
          <a:p>
            <a:pPr>
              <a:defRPr sz="1200">
                <a:solidFill>
                  <a:srgbClr val="8A95A5"/>
                </a:solidFill>
                <a:latin typeface="Inter"/>
              </a:defRPr>
            </a:pPr>
            <a:r>
              <a:t>High-performance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120640" cy="201168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FFFFF"/>
                </a:solidFill>
                <a:latin typeface="Syne"/>
              </a:defRPr>
            </a:pPr>
            <a:r>
              <a:t>Scalable Integration</a:t>
            </a:r>
          </a:p>
          <a:p>
            <a:pPr>
              <a:defRPr sz="1200">
                <a:solidFill>
                  <a:srgbClr val="8A95A5"/>
                </a:solidFill>
                <a:latin typeface="Inter"/>
              </a:defRPr>
            </a:pPr>
            <a:r>
              <a:t>Zero-friction onboarding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97680"/>
            <a:ext cx="5120640" cy="192024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FFFFF"/>
                </a:solidFill>
                <a:latin typeface="Syne"/>
              </a:defRPr>
            </a:pPr>
            <a:r>
              <a:t>Continuous Optimization</a:t>
            </a:r>
          </a:p>
          <a:p>
            <a:pPr>
              <a:defRPr sz="1200">
                <a:solidFill>
                  <a:srgbClr val="8A95A5"/>
                </a:solidFill>
                <a:latin typeface="Inter"/>
              </a:defRPr>
            </a:pPr>
            <a:r>
              <a:t>Real-time telemetry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yne"/>
              </a:defRPr>
            </a:pPr>
            <a:r>
              <a:t>Performance &amp; Impact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393192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000" b="1">
                <a:solidFill>
                  <a:srgbClr val="00F3FF"/>
                </a:solidFill>
              </a:defRPr>
            </a:pPr>
            <a:r>
              <a:t>RELIABILITY SLA</a:t>
            </a:r>
          </a:p>
          <a:p>
            <a:pPr>
              <a:defRPr sz="5400" b="1">
                <a:solidFill>
                  <a:srgbClr val="FFFFFF"/>
                </a:solidFill>
                <a:latin typeface="Syne"/>
              </a:defRPr>
            </a:pPr>
            <a:r>
              <a:t>99.99%</a:t>
            </a:r>
          </a:p>
          <a:p>
            <a:pPr>
              <a:defRPr sz="1400">
                <a:solidFill>
                  <a:srgbClr val="8A95A5"/>
                </a:solidFill>
                <a:latin typeface="Inter"/>
              </a:defRPr>
            </a:pPr>
            <a:r>
              <a:t>Mission-critical uptime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1874519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F3FF"/>
                </a:solidFill>
                <a:latin typeface="Syne"/>
              </a:defRPr>
            </a:pPr>
            <a:r>
              <a:t>3.5x</a:t>
            </a:r>
          </a:p>
          <a:p>
            <a:pPr>
              <a:defRPr sz="1300" b="1">
                <a:solidFill>
                  <a:srgbClr val="FFFFFF"/>
                </a:solidFill>
                <a:latin typeface="Syne"/>
              </a:defRPr>
            </a:pPr>
            <a:r>
              <a:t>Throughput Velocity</a:t>
            </a:r>
          </a:p>
          <a:p>
            <a:pPr>
              <a:defRPr sz="1000">
                <a:solidFill>
                  <a:srgbClr val="8A95A5"/>
                </a:solidFill>
                <a:latin typeface="Inter"/>
              </a:defRPr>
            </a:pPr>
            <a:r>
              <a:t>Accelerated cycle times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60520"/>
            <a:ext cx="5120640" cy="1874519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F3FF"/>
                </a:solidFill>
                <a:latin typeface="Syne"/>
              </a:defRPr>
            </a:pPr>
            <a:r>
              <a:t>-45%</a:t>
            </a:r>
          </a:p>
          <a:p>
            <a:pPr>
              <a:defRPr sz="1300" b="1">
                <a:solidFill>
                  <a:srgbClr val="FFFFFF"/>
                </a:solidFill>
                <a:latin typeface="Syne"/>
              </a:defRPr>
            </a:pPr>
            <a:r>
              <a:t>Operational Overhead</a:t>
            </a:r>
          </a:p>
          <a:p>
            <a:pPr>
              <a:defRPr sz="1000">
                <a:solidFill>
                  <a:srgbClr val="8A95A5"/>
                </a:solidFill>
                <a:latin typeface="Inter"/>
              </a:defRPr>
            </a:pPr>
            <a:r>
              <a:t>Cost reduction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yne"/>
              </a:defRPr>
            </a:pPr>
            <a:r>
              <a:t>Modern vs Legacy Paradigm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120640" cy="402336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LEGACY ARCHITECTURE</a:t>
            </a:r>
          </a:p>
          <a:p>
            <a:pPr>
              <a:defRPr sz="1200">
                <a:solidFill>
                  <a:srgbClr val="8A95A5"/>
                </a:solidFill>
              </a:defRPr>
            </a:pPr>
            <a:r>
              <a:t>✖  Passive chat interfaces with zero runtime execution</a:t>
            </a:r>
          </a:p>
          <a:p>
            <a:pPr>
              <a:defRPr sz="1200">
                <a:solidFill>
                  <a:srgbClr val="8A95A5"/>
                </a:solidFill>
              </a:defRPr>
            </a:pPr>
            <a:r>
              <a:t>✖  Fragmented context lost between sessions</a:t>
            </a:r>
          </a:p>
          <a:p>
            <a:pPr>
              <a:defRPr sz="1200">
                <a:solidFill>
                  <a:srgbClr val="8A95A5"/>
                </a:solidFill>
              </a:defRPr>
            </a:pPr>
            <a:r>
              <a:t>✖  Unverified hallucinated code generation</a:t>
            </a:r>
          </a:p>
          <a:p>
            <a:pPr>
              <a:defRPr sz="1200">
                <a:solidFill>
                  <a:srgbClr val="8A95A5"/>
                </a:solidFill>
              </a:defRPr>
            </a:pPr>
            <a:r>
              <a:t>✖  Proprietary vendor cloud lock-in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023360"/>
          </a:xfrm>
          <a:prstGeom prst="roundRect">
            <a:avLst/>
          </a:prstGeom>
          <a:solidFill>
            <a:srgbClr val="12141C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3FF"/>
                </a:solidFill>
              </a:defRPr>
            </a:pPr>
            <a:r>
              <a:t>ZENITH SOVEREIGN LAYER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✔  Proactive executive command across 8 specialized departments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✔  Unified persistent memory fabric &amp; timeline tracking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✔  Atomic patch transactions with pre-flight verification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✔  Complete local sovereignty &amp; private sandbox execution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C"/>
          </a:solidFill>
          <a:ln>
            <a:solidFill>
              <a:srgbClr val="0809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yne"/>
              </a:defRPr>
            </a:pPr>
            <a:r>
              <a:t>Execution Roadmap &amp; Next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9875520" cy="36576"/>
          </a:xfrm>
          <a:prstGeom prst="rect">
            <a:avLst/>
          </a:prstGeom>
          <a:solidFill>
            <a:srgbClr val="2A2F45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3218688"/>
            <a:ext cx="182880" cy="182880"/>
          </a:xfrm>
          <a:prstGeom prst="ellipse">
            <a:avLst/>
          </a:prstGeom>
          <a:solidFill>
            <a:srgbClr val="00F3FF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2194560" cy="201168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3FF"/>
                </a:solidFill>
              </a:defRPr>
            </a:pPr>
            <a:r>
              <a:t>Q1 2026</a:t>
            </a:r>
          </a:p>
          <a:p>
            <a:pPr>
              <a:defRPr sz="1400" b="1">
                <a:solidFill>
                  <a:srgbClr val="FFFFFF"/>
                </a:solidFill>
                <a:latin typeface="Syne"/>
              </a:defRPr>
            </a:pPr>
            <a:r>
              <a:t>Foundation</a:t>
            </a:r>
          </a:p>
          <a:p>
            <a:pPr>
              <a:defRPr sz="1000">
                <a:solidFill>
                  <a:srgbClr val="8A95A5"/>
                </a:solidFill>
                <a:latin typeface="Inter"/>
              </a:defRPr>
            </a:pPr>
            <a:r>
              <a:t>Core agentic kernel &amp; multi-modal memory.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3218688"/>
            <a:ext cx="182880" cy="182880"/>
          </a:xfrm>
          <a:prstGeom prst="ellipse">
            <a:avLst/>
          </a:prstGeom>
          <a:solidFill>
            <a:srgbClr val="00F3FF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3657600"/>
            <a:ext cx="2194560" cy="201168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3FF"/>
                </a:solidFill>
              </a:defRPr>
            </a:pPr>
            <a:r>
              <a:t>Q2 2026</a:t>
            </a:r>
          </a:p>
          <a:p>
            <a:pPr>
              <a:defRPr sz="1400" b="1">
                <a:solidFill>
                  <a:srgbClr val="FFFFFF"/>
                </a:solidFill>
                <a:latin typeface="Syne"/>
              </a:defRPr>
            </a:pPr>
            <a:r>
              <a:t>Expansion</a:t>
            </a:r>
          </a:p>
          <a:p>
            <a:pPr>
              <a:defRPr sz="1000">
                <a:solidFill>
                  <a:srgbClr val="8A95A5"/>
                </a:solidFill>
                <a:latin typeface="Inter"/>
              </a:defRPr>
            </a:pPr>
            <a:r>
              <a:t>Autonomous tool generation &amp; SWE sandbox.</a:t>
            </a:r>
          </a:p>
        </p:txBody>
      </p:sp>
      <p:sp>
        <p:nvSpPr>
          <p:cNvPr id="9" name="Oval 8"/>
          <p:cNvSpPr/>
          <p:nvPr/>
        </p:nvSpPr>
        <p:spPr>
          <a:xfrm>
            <a:off x="7223760" y="3218688"/>
            <a:ext cx="182880" cy="182880"/>
          </a:xfrm>
          <a:prstGeom prst="ellipse">
            <a:avLst/>
          </a:prstGeom>
          <a:solidFill>
            <a:srgbClr val="00F3FF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2194560" cy="201168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3FF"/>
                </a:solidFill>
              </a:defRPr>
            </a:pPr>
            <a:r>
              <a:t>Q3 2026</a:t>
            </a:r>
          </a:p>
          <a:p>
            <a:pPr>
              <a:defRPr sz="1400" b="1">
                <a:solidFill>
                  <a:srgbClr val="FFFFFF"/>
                </a:solidFill>
                <a:latin typeface="Syne"/>
              </a:defRPr>
            </a:pPr>
            <a:r>
              <a:t>Scale</a:t>
            </a:r>
          </a:p>
          <a:p>
            <a:pPr>
              <a:defRPr sz="1000">
                <a:solidFill>
                  <a:srgbClr val="8A95A5"/>
                </a:solidFill>
                <a:latin typeface="Inter"/>
              </a:defRPr>
            </a:pPr>
            <a:r>
              <a:t>Hardware acceleration &amp; edge deployment.</a:t>
            </a:r>
          </a:p>
        </p:txBody>
      </p:sp>
      <p:sp>
        <p:nvSpPr>
          <p:cNvPr id="11" name="Oval 10"/>
          <p:cNvSpPr/>
          <p:nvPr/>
        </p:nvSpPr>
        <p:spPr>
          <a:xfrm>
            <a:off x="9784079" y="3218688"/>
            <a:ext cx="182880" cy="182880"/>
          </a:xfrm>
          <a:prstGeom prst="ellipse">
            <a:avLst/>
          </a:prstGeom>
          <a:solidFill>
            <a:srgbClr val="00F3FF"/>
          </a:solidFill>
          <a:ln>
            <a:solidFill>
              <a:srgbClr val="00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39" y="3657600"/>
            <a:ext cx="2194560" cy="2011680"/>
          </a:xfrm>
          <a:prstGeom prst="roundRect">
            <a:avLst/>
          </a:prstGeom>
          <a:solidFill>
            <a:srgbClr val="12141C"/>
          </a:solidFill>
          <a:ln>
            <a:solidFill>
              <a:srgbClr val="2A2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3FF"/>
                </a:solidFill>
              </a:defRPr>
            </a:pPr>
            <a:r>
              <a:t>Q4 2026</a:t>
            </a:r>
          </a:p>
          <a:p>
            <a:pPr>
              <a:defRPr sz="1400" b="1">
                <a:solidFill>
                  <a:srgbClr val="FFFFFF"/>
                </a:solidFill>
                <a:latin typeface="Syne"/>
              </a:defRPr>
            </a:pPr>
            <a:r>
              <a:t>Sovereignty</a:t>
            </a:r>
          </a:p>
          <a:p>
            <a:pPr>
              <a:defRPr sz="1000">
                <a:solidFill>
                  <a:srgbClr val="8A95A5"/>
                </a:solidFill>
                <a:latin typeface="Inter"/>
              </a:defRPr>
            </a:pPr>
            <a:r>
              <a:t>Full offline sovereignty &amp; peer mesh network.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