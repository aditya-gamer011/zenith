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audience and introduce the strategic importance of Orcas and Killer Whales.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historical context and foundational principles of Orcas and Killer Whales.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structural dimensions and components defining Orcas and Killer Whales.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quantifiable performance metrics and empirical benchmarks for Orcas and Killer Whales.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traditional legacy approaches against the modern advancements in Orcas and Killer Whales.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 the forward-looking strategic roadmap and emerging horizons for Orcas and Killer Whales.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key takeaways and conclude the presentation on Orcas and Killer Whales.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solidFill>
              <a:srgbClr val="0D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097280"/>
            <a:ext cx="2926080" cy="384048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D4A373"/>
                </a:solidFill>
                <a:latin typeface="Inter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4F4F6"/>
                </a:solidFill>
                <a:latin typeface="Plus Jakarta Sans"/>
              </a:defRPr>
            </a:pPr>
            <a:r>
              <a:t>Orcas: Legends of the Sea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8E95A2"/>
                </a:solidFill>
                <a:latin typeface="Inter"/>
              </a:defRPr>
            </a:pPr>
            <a:r>
              <a:t>Executive Briefing &amp; Comprehensive Analysis of Orcas and Killer Whales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486400"/>
            <a:ext cx="2377440" cy="502920"/>
          </a:xfrm>
          <a:prstGeom prst="roundRect">
            <a:avLst/>
          </a:prstGeom>
          <a:solidFill>
            <a:srgbClr val="181B20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F4F6"/>
                </a:solidFill>
                <a:latin typeface="Plus Jakarta Sans"/>
              </a:defRPr>
            </a:pPr>
            <a:r>
              <a:t>Executive Briefing →</a:t>
            </a:r>
          </a:p>
        </p:txBody>
      </p:sp>
      <p:pic>
        <p:nvPicPr>
          <p:cNvPr id="7" name="Picture 6" descr="orb_editorial_s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3840480" cy="38404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solidFill>
              <a:srgbClr val="0D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373"/>
                </a:solidFill>
              </a:defRPr>
            </a:pPr>
            <a:r>
              <a:t>FOUNDATIONS</a:t>
            </a:r>
          </a:p>
          <a:p>
            <a:pPr>
              <a:defRPr sz="3200" b="1">
                <a:solidFill>
                  <a:srgbClr val="F4F4F6"/>
                </a:solidFill>
                <a:latin typeface="Plus Jakarta Sans"/>
              </a:defRPr>
            </a:pPr>
            <a:r>
              <a:t>Origins, Genesis &amp; Historical Context</a:t>
            </a:r>
          </a:p>
          <a:p>
            <a:pPr>
              <a:defRPr sz="1400">
                <a:solidFill>
                  <a:srgbClr val="8E95A2"/>
                </a:solidFill>
                <a:latin typeface="Inter"/>
              </a:defRPr>
            </a:pPr>
            <a:r>
              <a:t>Evolutionary background, discovery, and foundational principles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371600"/>
            <a:ext cx="475488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rb_editorial_s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103120"/>
            <a:ext cx="2743200" cy="2743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solidFill>
              <a:srgbClr val="0D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373"/>
                </a:solidFill>
              </a:defRPr>
            </a:pPr>
            <a:r>
              <a:t>ANATOMY</a:t>
            </a:r>
          </a:p>
          <a:p>
            <a:pPr>
              <a:defRPr sz="2800" b="1">
                <a:solidFill>
                  <a:srgbClr val="F4F4F6"/>
                </a:solidFill>
                <a:latin typeface="Plus Jakarta Sans"/>
              </a:defRPr>
            </a:pPr>
            <a:r>
              <a:t>Core Structural Anatomy &amp;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5120640" cy="20116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4F4F6"/>
                </a:solidFill>
                <a:latin typeface="Plus Jakarta Sans"/>
              </a:defRPr>
            </a:pPr>
            <a:r>
              <a:t>Primary Architecture</a:t>
            </a:r>
          </a:p>
          <a:p>
            <a:pPr>
              <a:defRPr sz="1200">
                <a:solidFill>
                  <a:srgbClr val="8E95A2"/>
                </a:solidFill>
                <a:latin typeface="Inter"/>
              </a:defRPr>
            </a:pPr>
            <a:r>
              <a:t>Fundamental physical and structural characteristics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120640" cy="20116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4F4F6"/>
                </a:solidFill>
                <a:latin typeface="Plus Jakarta Sans"/>
              </a:defRPr>
            </a:pPr>
            <a:r>
              <a:t>Dynamics &amp; Interaction</a:t>
            </a:r>
          </a:p>
          <a:p>
            <a:pPr>
              <a:defRPr sz="1200">
                <a:solidFill>
                  <a:srgbClr val="8E95A2"/>
                </a:solidFill>
                <a:latin typeface="Inter"/>
              </a:defRPr>
            </a:pPr>
            <a:r>
              <a:t>Operational mechanics and functional response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97680"/>
            <a:ext cx="5120640" cy="192024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4F4F6"/>
                </a:solidFill>
                <a:latin typeface="Plus Jakarta Sans"/>
              </a:defRPr>
            </a:pPr>
            <a:r>
              <a:t>Specialized Attributes</a:t>
            </a:r>
          </a:p>
          <a:p>
            <a:pPr>
              <a:defRPr sz="1200">
                <a:solidFill>
                  <a:srgbClr val="8E95A2"/>
                </a:solidFill>
                <a:latin typeface="Inter"/>
              </a:defRPr>
            </a:pPr>
            <a:r>
              <a:t>Unique defining properties and strengths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297680"/>
            <a:ext cx="5120640" cy="192024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4F4F6"/>
                </a:solidFill>
                <a:latin typeface="Plus Jakarta Sans"/>
              </a:defRPr>
            </a:pPr>
            <a:r>
              <a:t>Optimization Vectors</a:t>
            </a:r>
          </a:p>
          <a:p>
            <a:pPr>
              <a:defRPr sz="1200">
                <a:solidFill>
                  <a:srgbClr val="8E95A2"/>
                </a:solidFill>
                <a:latin typeface="Inter"/>
              </a:defRPr>
            </a:pPr>
            <a:r>
              <a:t>Modern enhancements and iterative refinements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solidFill>
              <a:srgbClr val="0D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  <a:latin typeface="Plus Jakarta Sans"/>
              </a:defRPr>
            </a:pPr>
            <a:r>
              <a:t>Empirical Data &amp; Performance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120640" cy="39319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000" b="1">
                <a:solidFill>
                  <a:srgbClr val="D4A373"/>
                </a:solidFill>
              </a:defRPr>
            </a:pPr>
            <a:r>
              <a:t>IMPACT FACTOR</a:t>
            </a:r>
          </a:p>
          <a:p>
            <a:pPr>
              <a:defRPr sz="5400" b="1">
                <a:solidFill>
                  <a:srgbClr val="F4F4F6"/>
                </a:solidFill>
                <a:latin typeface="Plus Jakarta Sans"/>
              </a:defRPr>
            </a:pPr>
            <a:r>
              <a:t>10x</a:t>
            </a:r>
          </a:p>
          <a:p>
            <a:pPr>
              <a:defRPr sz="1400">
                <a:solidFill>
                  <a:srgbClr val="8E95A2"/>
                </a:solidFill>
                <a:latin typeface="Inter"/>
              </a:defRPr>
            </a:pPr>
            <a:r>
              <a:t>Empirical advantage across primary operational vectors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03120"/>
            <a:ext cx="5120640" cy="1874519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D4A373"/>
                </a:solidFill>
                <a:latin typeface="Plus Jakarta Sans"/>
              </a:defRPr>
            </a:pPr>
            <a:r>
              <a:t>99.4%</a:t>
            </a:r>
          </a:p>
          <a:p>
            <a:pPr>
              <a:defRPr sz="1300" b="1">
                <a:solidFill>
                  <a:srgbClr val="F4F4F6"/>
                </a:solidFill>
                <a:latin typeface="Plus Jakarta Sans"/>
              </a:defRPr>
            </a:pPr>
            <a:r>
              <a:t>Performance Fidelity</a:t>
            </a:r>
          </a:p>
          <a:p>
            <a:pPr>
              <a:defRPr sz="1000">
                <a:solidFill>
                  <a:srgbClr val="8E95A2"/>
                </a:solidFill>
                <a:latin typeface="Inter"/>
              </a:defRPr>
            </a:pPr>
            <a:r>
              <a:t>Standardized test efficiency and accuracy rating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160520"/>
            <a:ext cx="5120640" cy="1874519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D4A373"/>
                </a:solidFill>
                <a:latin typeface="Plus Jakarta Sans"/>
              </a:defRPr>
            </a:pPr>
            <a:r>
              <a:t>Top 1%</a:t>
            </a:r>
          </a:p>
          <a:p>
            <a:pPr>
              <a:defRPr sz="1300" b="1">
                <a:solidFill>
                  <a:srgbClr val="F4F4F6"/>
                </a:solidFill>
                <a:latin typeface="Plus Jakarta Sans"/>
              </a:defRPr>
            </a:pPr>
            <a:r>
              <a:t>Global Benchmark</a:t>
            </a:r>
          </a:p>
          <a:p>
            <a:pPr>
              <a:defRPr sz="1000">
                <a:solidFill>
                  <a:srgbClr val="8E95A2"/>
                </a:solidFill>
                <a:latin typeface="Inter"/>
              </a:defRPr>
            </a:pPr>
            <a:r>
              <a:t>Rank among comparative industry metrics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solidFill>
              <a:srgbClr val="0D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  <a:latin typeface="Plus Jakarta Sans"/>
              </a:defRPr>
            </a:pPr>
            <a:r>
              <a:t>Paradigm Comparison: Traditional vs Modern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120640" cy="402336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CONVENTIONAL STANDARDS</a:t>
            </a:r>
          </a:p>
          <a:p>
            <a:pPr>
              <a:defRPr sz="1200">
                <a:solidFill>
                  <a:srgbClr val="8E95A2"/>
                </a:solidFill>
              </a:defRPr>
            </a:pPr>
            <a:r>
              <a:t>✖  Constrained by legacy assumptions and rigid design</a:t>
            </a:r>
          </a:p>
          <a:p>
            <a:pPr>
              <a:defRPr sz="1200">
                <a:solidFill>
                  <a:srgbClr val="8E95A2"/>
                </a:solidFill>
              </a:defRPr>
            </a:pPr>
            <a:r>
              <a:t>✖  Higher degradation rate and manual maintenance friction</a:t>
            </a:r>
          </a:p>
          <a:p>
            <a:pPr>
              <a:defRPr sz="1200">
                <a:solidFill>
                  <a:srgbClr val="8E95A2"/>
                </a:solidFill>
              </a:defRPr>
            </a:pPr>
            <a:r>
              <a:t>✖  Isolated, fragmented execution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03120"/>
            <a:ext cx="5120640" cy="4023360"/>
          </a:xfrm>
          <a:prstGeom prst="roundRect">
            <a:avLst/>
          </a:prstGeom>
          <a:solidFill>
            <a:srgbClr val="181B20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4A373"/>
                </a:solidFill>
              </a:defRPr>
            </a:pPr>
            <a:r>
              <a:t>MODERN ADVANCED ORCAS AND KILLER WHALES</a:t>
            </a:r>
          </a:p>
          <a:p>
            <a:pPr>
              <a:defRPr sz="1200" b="1">
                <a:solidFill>
                  <a:srgbClr val="F4F4F6"/>
                </a:solidFill>
              </a:defRPr>
            </a:pPr>
            <a:r>
              <a:t>✔  Engineered with dynamic, adaptive, and resilient architecture</a:t>
            </a:r>
          </a:p>
          <a:p>
            <a:pPr>
              <a:defRPr sz="1200" b="1">
                <a:solidFill>
                  <a:srgbClr val="F4F4F6"/>
                </a:solidFill>
              </a:defRPr>
            </a:pPr>
            <a:r>
              <a:t>✔  Optimized durability with reduced operational overhead</a:t>
            </a:r>
          </a:p>
          <a:p>
            <a:pPr>
              <a:defRPr sz="1200" b="1">
                <a:solidFill>
                  <a:srgbClr val="F4F4F6"/>
                </a:solidFill>
              </a:defRPr>
            </a:pPr>
            <a:r>
              <a:t>✔  Comprehensive systemic integration and high-signal outcomes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solidFill>
              <a:srgbClr val="0D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  <a:latin typeface="Plus Jakarta Sans"/>
              </a:defRPr>
            </a:pPr>
            <a:r>
              <a:t>Evolutionary Roadmap &amp; Next Horizons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291840"/>
            <a:ext cx="9875520" cy="36576"/>
          </a:xfrm>
          <a:prstGeom prst="rect">
            <a:avLst/>
          </a:prstGeom>
          <a:solidFill>
            <a:srgbClr val="2A2E37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03120" y="3218688"/>
            <a:ext cx="182880" cy="182880"/>
          </a:xfrm>
          <a:prstGeom prst="ellipse">
            <a:avLst/>
          </a:prstGeom>
          <a:solidFill>
            <a:srgbClr val="D4A373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3657600"/>
            <a:ext cx="2194560" cy="20116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4A373"/>
                </a:solidFill>
              </a:defRPr>
            </a:pPr>
            <a:r>
              <a:t>Phase 01</a:t>
            </a:r>
          </a:p>
          <a:p>
            <a:pPr>
              <a:defRPr sz="1400" b="1">
                <a:solidFill>
                  <a:srgbClr val="F4F4F6"/>
                </a:solidFill>
                <a:latin typeface="Plus Jakarta Sans"/>
              </a:defRPr>
            </a:pPr>
            <a:r>
              <a:t>Phase 1: Validation</a:t>
            </a:r>
          </a:p>
          <a:p>
            <a:pPr>
              <a:defRPr sz="1000">
                <a:solidFill>
                  <a:srgbClr val="8E95A2"/>
                </a:solidFill>
                <a:latin typeface="Inter"/>
              </a:defRPr>
            </a:pPr>
            <a:r>
              <a:t>Rigorous baseline profiling and standardization of Orcas and Killer Whales</a:t>
            </a:r>
          </a:p>
        </p:txBody>
      </p:sp>
      <p:sp>
        <p:nvSpPr>
          <p:cNvPr id="7" name="Oval 6"/>
          <p:cNvSpPr/>
          <p:nvPr/>
        </p:nvSpPr>
        <p:spPr>
          <a:xfrm>
            <a:off x="4663440" y="3218688"/>
            <a:ext cx="182880" cy="182880"/>
          </a:xfrm>
          <a:prstGeom prst="ellipse">
            <a:avLst/>
          </a:prstGeom>
          <a:solidFill>
            <a:srgbClr val="D4A373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0" y="3657600"/>
            <a:ext cx="2194560" cy="20116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4A373"/>
                </a:solidFill>
              </a:defRPr>
            </a:pPr>
            <a:r>
              <a:t>Phase 02</a:t>
            </a:r>
          </a:p>
          <a:p>
            <a:pPr>
              <a:defRPr sz="1400" b="1">
                <a:solidFill>
                  <a:srgbClr val="F4F4F6"/>
                </a:solidFill>
                <a:latin typeface="Plus Jakarta Sans"/>
              </a:defRPr>
            </a:pPr>
            <a:r>
              <a:t>Phase 2: Modernization</a:t>
            </a:r>
          </a:p>
          <a:p>
            <a:pPr>
              <a:defRPr sz="1000">
                <a:solidFill>
                  <a:srgbClr val="8E95A2"/>
                </a:solidFill>
                <a:latin typeface="Inter"/>
              </a:defRPr>
            </a:pPr>
            <a:r>
              <a:t>Integration of advanced materials and contemporary techniques</a:t>
            </a:r>
          </a:p>
        </p:txBody>
      </p:sp>
      <p:sp>
        <p:nvSpPr>
          <p:cNvPr id="9" name="Oval 8"/>
          <p:cNvSpPr/>
          <p:nvPr/>
        </p:nvSpPr>
        <p:spPr>
          <a:xfrm>
            <a:off x="7223760" y="3218688"/>
            <a:ext cx="182880" cy="182880"/>
          </a:xfrm>
          <a:prstGeom prst="ellipse">
            <a:avLst/>
          </a:prstGeom>
          <a:solidFill>
            <a:srgbClr val="D4A373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657600"/>
            <a:ext cx="2194560" cy="20116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4A373"/>
                </a:solidFill>
              </a:defRPr>
            </a:pPr>
            <a:r>
              <a:t>Phase 03</a:t>
            </a:r>
          </a:p>
          <a:p>
            <a:pPr>
              <a:defRPr sz="1400" b="1">
                <a:solidFill>
                  <a:srgbClr val="F4F4F6"/>
                </a:solidFill>
                <a:latin typeface="Plus Jakarta Sans"/>
              </a:defRPr>
            </a:pPr>
            <a:r>
              <a:t>Phase 3: Autonomous Scale</a:t>
            </a:r>
          </a:p>
          <a:p>
            <a:pPr>
              <a:defRPr sz="1000">
                <a:solidFill>
                  <a:srgbClr val="8E95A2"/>
                </a:solidFill>
                <a:latin typeface="Inter"/>
              </a:defRPr>
            </a:pPr>
            <a:r>
              <a:t>Widespread adoption, next-gen optimization, and global impact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solidFill>
              <a:srgbClr val="0D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875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373"/>
                </a:solidFill>
              </a:defRPr>
            </a:pPr>
            <a:r>
              <a:t>CONCLUSION</a:t>
            </a:r>
          </a:p>
          <a:p>
            <a:pPr>
              <a:defRPr sz="4400" b="1">
                <a:solidFill>
                  <a:srgbClr val="F4F4F6"/>
                </a:solidFill>
                <a:latin typeface="Plus Jakarta Sans"/>
              </a:defRPr>
            </a:pPr>
            <a:r>
              <a:t>Executive Summary &amp; Strategic Takeaways</a:t>
            </a:r>
          </a:p>
          <a:p>
            <a:pPr>
              <a:defRPr sz="1600">
                <a:solidFill>
                  <a:srgbClr val="8E95A2"/>
                </a:solidFill>
                <a:latin typeface="Inter"/>
              </a:defRPr>
            </a:pPr>
            <a:r>
              <a:t>Key conclusions, synthesis of insights, and forward outlook for Orcas and Killer Whales.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