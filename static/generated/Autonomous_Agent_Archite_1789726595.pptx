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Autonomous Agent Architecture: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Strategic Context &amp; Opportunity: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Core Architecture &amp; Capabilities: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Performance &amp; Impact Metrics: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Modern vs Legacy Paradigm: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Execution Roadmap &amp; Next Horizons: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926080" cy="384048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373"/>
                </a:solidFill>
                <a:latin typeface="Inter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4F4F6"/>
                </a:solidFill>
                <a:latin typeface="Syne"/>
              </a:defRPr>
            </a:pPr>
            <a:r>
              <a:t>Autonomous 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E95A2"/>
                </a:solidFill>
                <a:latin typeface="Inter"/>
              </a:defRPr>
            </a:pPr>
            <a:r>
              <a:t>Foundations of Self-Directing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2377440" cy="50292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  <a:latin typeface="Syne"/>
              </a:defRPr>
            </a:pPr>
            <a:r>
              <a:t>Explore Architecture →</a:t>
            </a:r>
          </a:p>
        </p:txBody>
      </p:sp>
      <p:pic>
        <p:nvPicPr>
          <p:cNvPr id="7" name="Picture 6" descr="orb_editorial_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3840480" cy="3840480"/>
          </a:xfrm>
          <a:prstGeom prst="rect">
            <a:avLst/>
          </a:prstGeom>
        </p:spPr>
      </p:pic>
    </p:spTree>
  </p:cSld>
  <p:clrMapOvr>
    <a:masterClrMapping/>
  </p:clrMapOvr>
  <p:transition>
    <p:zoom dir="in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373"/>
                </a:solidFill>
              </a:defRPr>
            </a:pPr>
            <a:r>
              <a:t>CONTEXT</a:t>
            </a:r>
          </a:p>
          <a:p>
            <a:pPr>
              <a:defRPr sz="3200" b="1">
                <a:solidFill>
                  <a:srgbClr val="F4F4F6"/>
                </a:solidFill>
                <a:latin typeface="Syne"/>
              </a:defRPr>
            </a:pPr>
            <a:r>
              <a:t>Strategic Context &amp; Opportunity</a:t>
            </a:r>
          </a:p>
          <a:p>
            <a:pPr>
              <a:defRPr sz="1400">
                <a:solidFill>
                  <a:srgbClr val="8E95A2"/>
                </a:solidFill>
                <a:latin typeface="Inter"/>
              </a:defRPr>
            </a:pPr>
            <a:r>
              <a:t>Market dynamics and foundational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b_editorial_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373"/>
                </a:solidFill>
              </a:defRPr>
            </a:pPr>
            <a:r>
              <a:t>CAPABILITIES</a:t>
            </a:r>
          </a:p>
          <a:p>
            <a:pPr>
              <a:defRPr sz="2800" b="1">
                <a:solidFill>
                  <a:srgbClr val="F4F4F6"/>
                </a:solidFill>
                <a:latin typeface="Syne"/>
              </a:defRPr>
            </a:pPr>
            <a:r>
              <a:t>Core Architecture &amp;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Syne"/>
              </a:defRPr>
            </a:pPr>
            <a:r>
              <a:t>Precision Execution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High-performance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Syne"/>
              </a:defRPr>
            </a:pPr>
            <a:r>
              <a:t>Scalable Integration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Zero-friction onboarding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19202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Syne"/>
              </a:defRPr>
            </a:pPr>
            <a:r>
              <a:t>Continuous Optimization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Real-time telemetry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Syne"/>
              </a:defRPr>
            </a:pPr>
            <a:r>
              <a:t>Performance &amp; Impact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39319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000" b="1">
                <a:solidFill>
                  <a:srgbClr val="D4A373"/>
                </a:solidFill>
              </a:defRPr>
            </a:pPr>
            <a:r>
              <a:t>RELIABILITY SLA</a:t>
            </a:r>
          </a:p>
          <a:p>
            <a:pPr>
              <a:defRPr sz="5400" b="1">
                <a:solidFill>
                  <a:srgbClr val="F4F4F6"/>
                </a:solidFill>
                <a:latin typeface="Syne"/>
              </a:defRPr>
            </a:pPr>
            <a:r>
              <a:t>99.99%</a:t>
            </a:r>
          </a:p>
          <a:p>
            <a:pPr>
              <a:defRPr sz="1400">
                <a:solidFill>
                  <a:srgbClr val="8E95A2"/>
                </a:solidFill>
                <a:latin typeface="Inter"/>
              </a:defRPr>
            </a:pPr>
            <a:r>
              <a:t>Mission-critical uptime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1874519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373"/>
                </a:solidFill>
                <a:latin typeface="Syne"/>
              </a:defRPr>
            </a:pPr>
            <a:r>
              <a:t>3.5x</a:t>
            </a:r>
          </a:p>
          <a:p>
            <a:pPr>
              <a:defRPr sz="1300" b="1">
                <a:solidFill>
                  <a:srgbClr val="F4F4F6"/>
                </a:solidFill>
                <a:latin typeface="Syne"/>
              </a:defRPr>
            </a:pPr>
            <a:r>
              <a:t>Throughput Velocity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Accelerated cycle times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60520"/>
            <a:ext cx="5120640" cy="1874519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373"/>
                </a:solidFill>
                <a:latin typeface="Syne"/>
              </a:defRPr>
            </a:pPr>
            <a:r>
              <a:t>-45%</a:t>
            </a:r>
          </a:p>
          <a:p>
            <a:pPr>
              <a:defRPr sz="1300" b="1">
                <a:solidFill>
                  <a:srgbClr val="F4F4F6"/>
                </a:solidFill>
                <a:latin typeface="Syne"/>
              </a:defRPr>
            </a:pPr>
            <a:r>
              <a:t>Operational Overhead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Cost reduction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Syne"/>
              </a:defRPr>
            </a:pPr>
            <a:r>
              <a:t>Modern vs Legacy Paradigm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402336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LEGACY ARCHITECTURE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Passive chat interfaces with zero runtime execution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Fragmented context lost between sessions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Unverified hallucinated code generation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Proprietary vendor cloud lock-in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ZENITH SOVEREIGN LAYER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Proactive executive command across 8 specialized departments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Unified persistent memory fabric &amp; timeline tracking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Atomic patch transactions with pre-flight verification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Complete local sovereignty &amp; private sandbox execution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Syne"/>
              </a:defRPr>
            </a:pPr>
            <a:r>
              <a:t>Execution Roadmap &amp; Next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875520" cy="36576"/>
          </a:xfrm>
          <a:prstGeom prst="rect">
            <a:avLst/>
          </a:prstGeom>
          <a:solidFill>
            <a:srgbClr val="2A2E37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Q1 2026</a:t>
            </a:r>
          </a:p>
          <a:p>
            <a:pPr>
              <a:defRPr sz="1400" b="1">
                <a:solidFill>
                  <a:srgbClr val="F4F4F6"/>
                </a:solidFill>
                <a:latin typeface="Syne"/>
              </a:defRPr>
            </a:pPr>
            <a:r>
              <a:t>Foundation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Core agentic kernel &amp; multi-modal memory.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Q2 2026</a:t>
            </a:r>
          </a:p>
          <a:p>
            <a:pPr>
              <a:defRPr sz="1400" b="1">
                <a:solidFill>
                  <a:srgbClr val="F4F4F6"/>
                </a:solidFill>
                <a:latin typeface="Syne"/>
              </a:defRPr>
            </a:pPr>
            <a:r>
              <a:t>Expansion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Autonomous tool generation &amp; SWE sandbox.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Q3 2026</a:t>
            </a:r>
          </a:p>
          <a:p>
            <a:pPr>
              <a:defRPr sz="1400" b="1">
                <a:solidFill>
                  <a:srgbClr val="F4F4F6"/>
                </a:solidFill>
                <a:latin typeface="Syne"/>
              </a:defRPr>
            </a:pPr>
            <a:r>
              <a:t>Scale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Hardware acceleration &amp; edge deployment.</a:t>
            </a:r>
          </a:p>
        </p:txBody>
      </p:sp>
      <p:sp>
        <p:nvSpPr>
          <p:cNvPr id="11" name="Oval 10"/>
          <p:cNvSpPr/>
          <p:nvPr/>
        </p:nvSpPr>
        <p:spPr>
          <a:xfrm>
            <a:off x="9784079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39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Q4 2026</a:t>
            </a:r>
          </a:p>
          <a:p>
            <a:pPr>
              <a:defRPr sz="1400" b="1">
                <a:solidFill>
                  <a:srgbClr val="F4F4F6"/>
                </a:solidFill>
                <a:latin typeface="Syne"/>
              </a:defRPr>
            </a:pPr>
            <a:r>
              <a:t>Sovereignty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Full offline sovereignty &amp; peer mesh network.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