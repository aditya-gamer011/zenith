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Global Architecture and Biophilic Design: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373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4F4F6"/>
                </a:solidFill>
                <a:latin typeface="Plus Jakarta Sans"/>
              </a:defRPr>
            </a:pPr>
            <a:r>
              <a:t>Global Architecture and Biophilic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E95A2"/>
                </a:solidFill>
                <a:latin typeface="Inter"/>
              </a:defRPr>
            </a:pPr>
            <a:r>
              <a:t>Spatial Aesthetics for Next-Century Urban Centers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  <a:latin typeface="Plus Jakarta Sans"/>
              </a:defRPr>
            </a:pPr>
            <a:r>
              <a:t>Explore Architecture →</a:t>
            </a:r>
          </a:p>
        </p:txBody>
      </p:sp>
      <p:pic>
        <p:nvPicPr>
          <p:cNvPr id="7" name="Picture 6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CONTEXT</a:t>
            </a:r>
          </a:p>
          <a:p>
            <a:pPr>
              <a:defRPr sz="3200" b="1">
                <a:solidFill>
                  <a:srgbClr val="F4F4F6"/>
                </a:solidFill>
                <a:latin typeface="Plus Jakarta Sans"/>
              </a:defRPr>
            </a:pPr>
            <a:r>
              <a:t>Strategic Context &amp; Opportunity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Market dynamics and foundational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editorial_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373"/>
                </a:solidFill>
              </a:defRPr>
            </a:pPr>
            <a:r>
              <a:t>CAPABILITIES</a:t>
            </a:r>
          </a:p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Core Architecture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Precision Execution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High-performance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Scalable Integration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Zero-friction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4F4F6"/>
                </a:solidFill>
                <a:latin typeface="Plus Jakarta Sans"/>
              </a:defRPr>
            </a:pPr>
            <a:r>
              <a:t>Continuous Optimization</a:t>
            </a:r>
          </a:p>
          <a:p>
            <a:pPr>
              <a:defRPr sz="1200">
                <a:solidFill>
                  <a:srgbClr val="8E95A2"/>
                </a:solidFill>
                <a:latin typeface="Inter"/>
              </a:defRPr>
            </a:pPr>
            <a:r>
              <a:t>Real-time telemetry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Performance &amp; Impact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D4A373"/>
                </a:solidFill>
              </a:defRPr>
            </a:pPr>
            <a:r>
              <a:t>RELIABILITY SLA</a:t>
            </a:r>
          </a:p>
          <a:p>
            <a:pPr>
              <a:defRPr sz="5400" b="1">
                <a:solidFill>
                  <a:srgbClr val="F4F4F6"/>
                </a:solidFill>
                <a:latin typeface="Plus Jakarta Sans"/>
              </a:defRPr>
            </a:pPr>
            <a:r>
              <a:t>99.99%</a:t>
            </a:r>
          </a:p>
          <a:p>
            <a:pPr>
              <a:defRPr sz="1400">
                <a:solidFill>
                  <a:srgbClr val="8E95A2"/>
                </a:solidFill>
                <a:latin typeface="Inter"/>
              </a:defRPr>
            </a:pPr>
            <a:r>
              <a:t>Mission-critical 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3.5x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Throughput Velocity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Accelerated cycle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373"/>
                </a:solidFill>
                <a:latin typeface="Plus Jakarta Sans"/>
              </a:defRPr>
            </a:pPr>
            <a:r>
              <a:t>-45%</a:t>
            </a:r>
          </a:p>
          <a:p>
            <a:pPr>
              <a:defRPr sz="1300" b="1">
                <a:solidFill>
                  <a:srgbClr val="F4F4F6"/>
                </a:solidFill>
                <a:latin typeface="Plus Jakarta Sans"/>
              </a:defRPr>
            </a:pPr>
            <a:r>
              <a:t>Operational Overhead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Cost reduction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Modern vs Legacy Paradigm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LEGACY ARCHITECTURE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Passive chat interfaces with zero runtime execution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Fragmented context lost between sessions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Unverified hallucinated code generation</a:t>
            </a:r>
          </a:p>
          <a:p>
            <a:pPr>
              <a:defRPr sz="1200">
                <a:solidFill>
                  <a:srgbClr val="8E95A2"/>
                </a:solidFill>
              </a:defRPr>
            </a:pPr>
            <a:r>
              <a:t>✖  Proprietary vendor cloud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ZENITH SOVEREIGN LAYER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Proactive executive command across 8 specialized departments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Unified persistent memory fabric &amp; timeline tracking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Atomic patch transactions with pre-flight verification</a:t>
            </a:r>
          </a:p>
          <a:p>
            <a:pPr>
              <a:defRPr sz="1200" b="1">
                <a:solidFill>
                  <a:srgbClr val="F4F4F6"/>
                </a:solidFill>
              </a:defRPr>
            </a:pPr>
            <a:r>
              <a:t>✔  Complete local sovereignty &amp; private sandbox execution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2"/>
          </a:solidFill>
          <a:ln>
            <a:solidFill>
              <a:srgbClr val="0D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  <a:latin typeface="Plus Jakarta Sans"/>
              </a:defRPr>
            </a:pPr>
            <a:r>
              <a:t>Execution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E37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Q1 2026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Foundation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Core agentic kernel &amp; multi-modal memory.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Q2 2026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Expansion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Autonomous tool generation &amp; SWE sandbox.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Q3 2026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Scale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Hardware acceleration &amp; edge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9" y="3218688"/>
            <a:ext cx="182880" cy="182880"/>
          </a:xfrm>
          <a:prstGeom prst="ellipse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39" y="3657600"/>
            <a:ext cx="2194560" cy="20116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373"/>
                </a:solidFill>
              </a:defRPr>
            </a:pPr>
            <a:r>
              <a:t>Q4 2026</a:t>
            </a:r>
          </a:p>
          <a:p>
            <a:pPr>
              <a:defRPr sz="1400" b="1">
                <a:solidFill>
                  <a:srgbClr val="F4F4F6"/>
                </a:solidFill>
                <a:latin typeface="Plus Jakarta Sans"/>
              </a:defRPr>
            </a:pPr>
            <a:r>
              <a:t>Sovereignty</a:t>
            </a:r>
          </a:p>
          <a:p>
            <a:pPr>
              <a:defRPr sz="1000">
                <a:solidFill>
                  <a:srgbClr val="8E95A2"/>
                </a:solidFill>
                <a:latin typeface="Inter"/>
              </a:defRPr>
            </a:pPr>
            <a:r>
              <a:t>Full offline sovereignty &amp; peer mesh network.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