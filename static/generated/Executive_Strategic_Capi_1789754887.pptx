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audience and introduce the strategic importance of Minimalist Institutional Allocation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historical context and foundational principles of Minimalist Institutional Allocation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structural dimensions and components defining Minimalist Institutional Allocation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quantifiable performance metrics and empirical benchmarks for Minimalist Institutional Allocation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traditional legacy approaches against the modern advancements in Minimalist Institutional Allocation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the forward-looking strategic roadmap and emerging horizons for Minimalist Institutional Allocation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84C7"/>
                </a:solidFill>
                <a:latin typeface="Inter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Inter"/>
              </a:defRPr>
            </a:pPr>
            <a:r>
              <a:t>Executive Strategic Capital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Inter"/>
              </a:defRPr>
            </a:pPr>
            <a:r>
              <a:t>Pure Structural Clarity and Fiduciary Rigor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23774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  <a:latin typeface="Inter"/>
              </a:defRPr>
            </a:pPr>
            <a:r>
              <a:t>Executive Briefing →</a:t>
            </a:r>
          </a:p>
        </p:txBody>
      </p:sp>
      <p:pic>
        <p:nvPicPr>
          <p:cNvPr id="7" name="Picture 6" descr="orb_swis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3840480" cy="3840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FOUNDATIONS</a:t>
            </a:r>
          </a:p>
          <a:p>
            <a:pPr>
              <a:defRPr sz="3200" b="1">
                <a:solidFill>
                  <a:srgbClr val="0F172A"/>
                </a:solidFill>
                <a:latin typeface="Inter"/>
              </a:defRPr>
            </a:pPr>
            <a:r>
              <a:t>Origins, Genesis &amp; Historical Context</a:t>
            </a:r>
          </a:p>
          <a:p>
            <a:pPr>
              <a:defRPr sz="1400">
                <a:solidFill>
                  <a:srgbClr val="64748B"/>
                </a:solidFill>
                <a:latin typeface="Inter"/>
              </a:defRPr>
            </a:pPr>
            <a:r>
              <a:t>Evolutionary background, discovery, and foundational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b_swis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ANATOMY</a:t>
            </a:r>
          </a:p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Core Structural Anatomy &amp;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0F172A"/>
                </a:solidFill>
                <a:latin typeface="Inter"/>
              </a:defRPr>
            </a:pPr>
            <a:r>
              <a:t>Primary Architecture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Fundamental physical and structural characteristics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0F172A"/>
                </a:solidFill>
                <a:latin typeface="Inter"/>
              </a:defRPr>
            </a:pPr>
            <a:r>
              <a:t>Dynamics &amp; Interaction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Operational mechanics and functional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0F172A"/>
                </a:solidFill>
                <a:latin typeface="Inter"/>
              </a:defRPr>
            </a:pPr>
            <a:r>
              <a:t>Specialized Attributes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Unique defining properties and strengths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9768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0F172A"/>
                </a:solidFill>
                <a:latin typeface="Inter"/>
              </a:defRPr>
            </a:pPr>
            <a:r>
              <a:t>Optimization Vectors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t>Modern enhancements and iterative refinements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Empirical Data &amp; 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IMPACT FACTOR</a:t>
            </a:r>
          </a:p>
          <a:p>
            <a:pPr>
              <a:defRPr sz="5400" b="1">
                <a:solidFill>
                  <a:srgbClr val="0F172A"/>
                </a:solidFill>
                <a:latin typeface="Inter"/>
              </a:defRPr>
            </a:pPr>
            <a:r>
              <a:t>10x</a:t>
            </a:r>
          </a:p>
          <a:p>
            <a:pPr>
              <a:defRPr sz="1400">
                <a:solidFill>
                  <a:srgbClr val="64748B"/>
                </a:solidFill>
                <a:latin typeface="Inter"/>
              </a:defRPr>
            </a:pPr>
            <a:r>
              <a:t>Empirical advantage across primary operational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284C7"/>
                </a:solidFill>
                <a:latin typeface="Inter"/>
              </a:defRPr>
            </a:pPr>
            <a:r>
              <a:t>99.4%</a:t>
            </a:r>
          </a:p>
          <a:p>
            <a:pPr>
              <a:defRPr sz="1300" b="1">
                <a:solidFill>
                  <a:srgbClr val="0F172A"/>
                </a:solidFill>
                <a:latin typeface="Inter"/>
              </a:defRPr>
            </a:pPr>
            <a:r>
              <a:t>Performance Fidelity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Standardized test efficiency and accuracy 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60520"/>
            <a:ext cx="51206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284C7"/>
                </a:solidFill>
                <a:latin typeface="Inter"/>
              </a:defRPr>
            </a:pPr>
            <a:r>
              <a:t>Top 1%</a:t>
            </a:r>
          </a:p>
          <a:p>
            <a:pPr>
              <a:defRPr sz="1300" b="1">
                <a:solidFill>
                  <a:srgbClr val="0F172A"/>
                </a:solidFill>
                <a:latin typeface="Inter"/>
              </a:defRPr>
            </a:pPr>
            <a:r>
              <a:t>Global Benchmark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Rank among comparative industry metrics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Paradigm Comparison: Traditional vs Modern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CONVENTIONAL STANDARDS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✖  Constrained by legacy assumptions and rigid design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✖  Higher degradation rate and manual maintenance friction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✖  Isolated, fragmented execution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MODERN ADVANCED MINIMALIST INSTITUTIONAL ALLOCATION STRATEGY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 Engineered with dynamic, adaptive, and resilient architecture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 Optimized durability with reduced operational overhead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 Comprehensive systemic integration and high-signal outcomes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Inter"/>
              </a:defRPr>
            </a:pPr>
            <a:r>
              <a:t>Evolutionary Roadmap &amp; Next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194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Phase 01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Phase 1: Validation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Rigorous baseline profiling and standardization of Minimalist Institutional Allocation Strategy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3218688"/>
            <a:ext cx="182880" cy="1828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194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Phase 02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Phase 2: Modernization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Integration of advanced materials and contemporary techniques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3218688"/>
            <a:ext cx="182880" cy="18288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1945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Phase 03</a:t>
            </a:r>
          </a:p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t>Phase 3: Autonomous Scale</a:t>
            </a:r>
          </a:p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Widespread adoption, next-gen optimization, and global impact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