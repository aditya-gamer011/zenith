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Oscillators are the acoustic foundation of analog synthesis, generating raw harmonically rich or pure waveforms.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Filters sculpt the harmonic spectrum by attenuating unwanted frequencies, giving analog gear its characteristic warmth.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ADSR envelopes control how synthesizer parameters evolve over time in response to note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LFOs inject life and motion into static patches by rhythmically modulating synth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Patching &amp; Modular Routing: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nthesizer_sound_design__analog_ar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1"/>
            <a:ext cx="4937760" cy="2779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DA15E"/>
          </a:solidFill>
          <a:ln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FBF7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DFBF7"/>
                </a:solidFill>
              </a:defRPr>
            </a:pPr>
            <a:r>
              <a:t>Synthesizer Sound Design &amp; Analog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606C38"/>
                </a:solidFill>
              </a:defRPr>
            </a:pPr>
            <a:r>
              <a:t>A Deep Dive into Subtractive Synthesis and Hardware Architecture</a:t>
            </a:r>
          </a:p>
          <a:p>
            <a:pPr>
              <a:spcBef>
                <a:spcPts val="2000"/>
              </a:spcBef>
              <a:defRPr sz="1300">
                <a:solidFill>
                  <a:srgbClr val="C2B29F"/>
                </a:solidFill>
              </a:defRPr>
            </a:pPr>
            <a:r>
              <a:t>Prepared for Aditya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Voltage-Controlled Oscillators (VCOs)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DA15E"/>
                </a:solidFill>
              </a:defRPr>
            </a:pPr>
            <a:r>
              <a:t>The Acoustic Genesis of Electronic Sound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Generate rich raw waveforms: Sawtooth, Square, Triangle, and Sine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Control harmonic richness and core timbre at the source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Super-saw and unison stacks for massive supersized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g_synthesizer_modular_oscillat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470911"/>
            <a:ext cx="4389120" cy="255625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Voltage-Controlled Filters (VCFs)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hesizer_filter_knob_cutoff_reso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557"/>
            <a:ext cx="4937760" cy="32909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06C38"/>
                </a:solidFill>
              </a:defRPr>
            </a:pPr>
            <a:r>
              <a:t>Sculpting the Harmonic Spectrum</a:t>
            </a:r>
          </a:p>
          <a:p>
            <a:pPr>
              <a:spcBef>
                <a:spcPts val="1000"/>
              </a:spcBef>
              <a:defRPr sz="1300">
                <a:solidFill>
                  <a:srgbClr val="C2B29F"/>
                </a:solidFill>
              </a:defRPr>
            </a:pPr>
            <a:r>
              <a:t>• Low-pass, high-pass, band-pass, and notch filter topologies</a:t>
            </a:r>
          </a:p>
          <a:p>
            <a:pPr>
              <a:spcBef>
                <a:spcPts val="1000"/>
              </a:spcBef>
              <a:defRPr sz="1300">
                <a:solidFill>
                  <a:srgbClr val="C2B29F"/>
                </a:solidFill>
              </a:defRPr>
            </a:pPr>
            <a:r>
              <a:t>• Cutoff frequency shapes overall spectral brightness</a:t>
            </a:r>
          </a:p>
          <a:p>
            <a:pPr>
              <a:spcBef>
                <a:spcPts val="1000"/>
              </a:spcBef>
              <a:defRPr sz="1300">
                <a:solidFill>
                  <a:srgbClr val="C2B29F"/>
                </a:solidFill>
              </a:defRPr>
            </a:pPr>
            <a:r>
              <a:t>• Resonance (Q) boosts frequencies around the cutoff for self-oscillation warmth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Envelopes &amp; ADSR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sr_envelope_generator_synthesizer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06C38"/>
                </a:solidFill>
              </a:defRPr>
            </a:pPr>
            <a:r>
              <a:t>Shaping Volume and Timbre Over Time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Low-Frequency Oscillators (LFOs)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DA15E"/>
                </a:solidFill>
              </a:defRPr>
            </a:pPr>
            <a:r>
              <a:t>Injecting Motion and Rhythmic Life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Low-Frequency Oscillators operate below human hearing (0.1 Hz to 20 Hz)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Modulate pitch (vibrato), filter cutoff (wah), or amplitude (tremolo)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Free-running or tempo-synced modulation sources for rhythmic movement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ular_synthesizer_patch_cables_lf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4389120" cy="2926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Patching &amp; Modular Routing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2860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06C38"/>
                </a:solidFill>
              </a:defRPr>
            </a:pPr>
            <a:r>
              <a:t>CV /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DFBF7"/>
                </a:solidFill>
              </a:defRPr>
            </a:pPr>
            <a:r>
              <a:t>Signal Routing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Voltage Control vs.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54480"/>
            <a:ext cx="22860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DA15E"/>
                </a:solidFill>
              </a:defRPr>
            </a:pPr>
            <a:r>
              <a:t>3.5mm / Banana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DFBF7"/>
                </a:solidFill>
              </a:defRPr>
            </a:pPr>
            <a:r>
              <a:t>Interconnectivity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Modular Patch Cables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22860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06C38"/>
                </a:solidFill>
              </a:defRPr>
            </a:pPr>
            <a:r>
              <a:t>Infinite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DFBF7"/>
                </a:solidFill>
              </a:defRPr>
            </a:pPr>
            <a:r>
              <a:t>Creative Freedom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Unrestricted Signal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tching__modular_routing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937256"/>
            <a:ext cx="3108960" cy="162356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